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86" r:id="rId5"/>
    <p:sldId id="297" r:id="rId6"/>
    <p:sldId id="291" r:id="rId7"/>
    <p:sldId id="293" r:id="rId8"/>
    <p:sldId id="304" r:id="rId9"/>
    <p:sldId id="299" r:id="rId10"/>
    <p:sldId id="302" r:id="rId11"/>
    <p:sldId id="292" r:id="rId12"/>
    <p:sldId id="300" r:id="rId13"/>
    <p:sldId id="301" r:id="rId14"/>
    <p:sldId id="303" r:id="rId15"/>
    <p:sldId id="298" r:id="rId16"/>
    <p:sldId id="285" r:id="rId17"/>
  </p:sldIdLst>
  <p:sldSz cx="18288000" cy="10287000"/>
  <p:notesSz cx="6858000" cy="9144000"/>
  <p:embeddedFontLst>
    <p:embeddedFont>
      <p:font typeface="Pretendard Bold" panose="020B0604020202020204" charset="-127"/>
      <p:bold r:id="rId19"/>
    </p:embeddedFont>
    <p:embeddedFont>
      <p:font typeface="Pretendard Light" panose="020B0604020202020204" charset="-127"/>
      <p:regular r:id="rId20"/>
    </p:embeddedFont>
    <p:embeddedFont>
      <p:font typeface="Pretendard Medium" panose="020B0604020202020204" charset="-127"/>
      <p:bold r:id="rId21"/>
    </p:embeddedFont>
    <p:embeddedFont>
      <p:font typeface="Pretendard Regular" panose="020B0604020202020204" charset="-127"/>
      <p:regular r:id="rId22"/>
    </p:embeddedFont>
    <p:embeddedFont>
      <p:font typeface="맑은 고딕" panose="020B0503020000020004" pitchFamily="34" charset="-127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3D6E5-3BDB-437B-810C-E9DD7D71A379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86DE6-7F70-4133-B536-428BE35412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86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FD2F-2344-9BEB-1887-096AFB93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E20DD7-628A-D7C7-F279-498A6EE53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663032-1C15-C53D-4FAC-AE9958DAF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여기 제가 잘못 써놨는데</a:t>
            </a:r>
            <a:r>
              <a:rPr lang="en-US" altLang="ko-KR"/>
              <a:t>, image</a:t>
            </a:r>
            <a:r>
              <a:rPr lang="ko-KR" altLang="en-US"/>
              <a:t>뒤에 </a:t>
            </a:r>
            <a:r>
              <a:rPr lang="en-US" altLang="ko-KR"/>
              <a:t>/</a:t>
            </a:r>
            <a:r>
              <a:rPr lang="ko-KR" altLang="en-US"/>
              <a:t>슬래쉬를 붙여놔야합니다</a:t>
            </a:r>
            <a:r>
              <a:rPr lang="en-US" altLang="ko-KR"/>
              <a:t>. </a:t>
            </a:r>
            <a:r>
              <a:rPr lang="ko-KR" altLang="en-US"/>
              <a:t>그래야 그 밑의 것들을 읽어요</a:t>
            </a:r>
            <a:r>
              <a:rPr lang="en-US" altLang="ko-KR"/>
              <a:t>. /</a:t>
            </a:r>
            <a:r>
              <a:rPr lang="ko-KR" altLang="en-US"/>
              <a:t>뒤에가 하위 폴더가 온다고 생각하시면 됩니다</a:t>
            </a:r>
            <a:r>
              <a:rPr lang="en-US" altLang="ko-KR"/>
              <a:t>.</a:t>
            </a:r>
          </a:p>
          <a:p>
            <a:r>
              <a:rPr lang="ko-KR" altLang="en-US"/>
              <a:t>아무튼 좌측 상단의 커밋 및 푸시를 누르면 대략 </a:t>
            </a:r>
            <a:r>
              <a:rPr lang="en-US" altLang="ko-KR"/>
              <a:t>2</a:t>
            </a:r>
            <a:r>
              <a:rPr lang="ko-KR" altLang="en-US"/>
              <a:t>분정도 뒤에 사이트가 갱신이 됩니다</a:t>
            </a:r>
            <a:r>
              <a:rPr lang="en-US" altLang="ko-KR"/>
              <a:t>.</a:t>
            </a:r>
          </a:p>
          <a:p>
            <a:r>
              <a:rPr lang="ko-KR" altLang="en-US"/>
              <a:t>이게 바로 안된다면</a:t>
            </a:r>
            <a:r>
              <a:rPr lang="en-US" altLang="ko-KR"/>
              <a:t>, </a:t>
            </a:r>
            <a:r>
              <a:rPr lang="ko-KR" altLang="en-US"/>
              <a:t>컨트롤  </a:t>
            </a:r>
            <a:r>
              <a:rPr lang="en-US" altLang="ko-KR"/>
              <a:t>+ </a:t>
            </a:r>
            <a:r>
              <a:rPr lang="ko-KR" altLang="en-US"/>
              <a:t>쉬프트 </a:t>
            </a:r>
            <a:r>
              <a:rPr lang="en-US" altLang="ko-KR"/>
              <a:t>+ R</a:t>
            </a:r>
            <a:r>
              <a:rPr lang="ko-KR" altLang="en-US"/>
              <a:t>을 누르면 강력 새로고침이 되는데 이러면 보통 완료가 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B2196-81BB-EF04-655C-9C7298C95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86DE6-7F70-4133-B536-428BE354129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50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여기 제가 잘못 써놨는데</a:t>
            </a:r>
            <a:r>
              <a:rPr lang="en-US" altLang="ko-KR"/>
              <a:t>, image</a:t>
            </a:r>
            <a:r>
              <a:rPr lang="ko-KR" altLang="en-US"/>
              <a:t>뒤에 </a:t>
            </a:r>
            <a:r>
              <a:rPr lang="en-US" altLang="ko-KR"/>
              <a:t>/</a:t>
            </a:r>
            <a:r>
              <a:rPr lang="ko-KR" altLang="en-US"/>
              <a:t>슬래쉬를 붙여놔야합니다</a:t>
            </a:r>
            <a:r>
              <a:rPr lang="en-US" altLang="ko-KR"/>
              <a:t>. </a:t>
            </a:r>
            <a:r>
              <a:rPr lang="ko-KR" altLang="en-US"/>
              <a:t>그래야 그 밑의 것들을 읽어요</a:t>
            </a:r>
            <a:r>
              <a:rPr lang="en-US" altLang="ko-KR"/>
              <a:t>. /</a:t>
            </a:r>
            <a:r>
              <a:rPr lang="ko-KR" altLang="en-US"/>
              <a:t>뒤에가 하위 폴더가 온다고 생각하시면 됩니다</a:t>
            </a:r>
            <a:r>
              <a:rPr lang="en-US" altLang="ko-KR"/>
              <a:t>.</a:t>
            </a:r>
          </a:p>
          <a:p>
            <a:r>
              <a:rPr lang="ko-KR" altLang="en-US"/>
              <a:t>아무튼 좌측 상단의 커밋 및 푸시를 누르면 대략 </a:t>
            </a:r>
            <a:r>
              <a:rPr lang="en-US" altLang="ko-KR"/>
              <a:t>2</a:t>
            </a:r>
            <a:r>
              <a:rPr lang="ko-KR" altLang="en-US"/>
              <a:t>분정도 뒤에 사이트가 갱신이 됩니다</a:t>
            </a:r>
            <a:r>
              <a:rPr lang="en-US" altLang="ko-KR"/>
              <a:t>.</a:t>
            </a:r>
          </a:p>
          <a:p>
            <a:r>
              <a:rPr lang="ko-KR" altLang="en-US"/>
              <a:t>이게 바로 안된다면</a:t>
            </a:r>
            <a:r>
              <a:rPr lang="en-US" altLang="ko-KR"/>
              <a:t>, </a:t>
            </a:r>
            <a:r>
              <a:rPr lang="ko-KR" altLang="en-US"/>
              <a:t>컨트롤  </a:t>
            </a:r>
            <a:r>
              <a:rPr lang="en-US" altLang="ko-KR"/>
              <a:t>+ </a:t>
            </a:r>
            <a:r>
              <a:rPr lang="ko-KR" altLang="en-US"/>
              <a:t>쉬프트 </a:t>
            </a:r>
            <a:r>
              <a:rPr lang="en-US" altLang="ko-KR"/>
              <a:t>+ R</a:t>
            </a:r>
            <a:r>
              <a:rPr lang="ko-KR" altLang="en-US"/>
              <a:t>을 누르면 강력 새로고침이 되는데 이러면 보통 완료가 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86DE6-7F70-4133-B536-428BE354129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122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newtownman.github.io/ratingtask2026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1.png"/><Relationship Id="rId5" Type="http://schemas.openxmlformats.org/officeDocument/2006/relationships/image" Target="../media/image4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25.png"/><Relationship Id="rId15" Type="http://schemas.openxmlformats.org/officeDocument/2006/relationships/image" Target="../media/image29.png"/><Relationship Id="rId10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5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25.png"/><Relationship Id="rId15" Type="http://schemas.openxmlformats.org/officeDocument/2006/relationships/image" Target="../media/image29.png"/><Relationship Id="rId10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5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6.png"/><Relationship Id="rId1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6.png"/><Relationship Id="rId5" Type="http://schemas.openxmlformats.org/officeDocument/2006/relationships/image" Target="../media/image24.png"/><Relationship Id="rId15" Type="http://schemas.openxmlformats.org/officeDocument/2006/relationships/image" Target="../media/image28.png"/><Relationship Id="rId10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4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12" Type="http://schemas.openxmlformats.org/officeDocument/2006/relationships/image" Target="../media/image26.png"/><Relationship Id="rId17" Type="http://schemas.openxmlformats.org/officeDocument/2006/relationships/image" Target="../media/image33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25.png"/><Relationship Id="rId15" Type="http://schemas.openxmlformats.org/officeDocument/2006/relationships/image" Target="../media/image29.png"/><Relationship Id="rId10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5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6.png"/><Relationship Id="rId1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6.png"/><Relationship Id="rId5" Type="http://schemas.openxmlformats.org/officeDocument/2006/relationships/image" Target="../media/image24.png"/><Relationship Id="rId15" Type="http://schemas.openxmlformats.org/officeDocument/2006/relationships/image" Target="../media/image28.png"/><Relationship Id="rId10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4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3.png"/><Relationship Id="rId12" Type="http://schemas.openxmlformats.org/officeDocument/2006/relationships/image" Target="../media/image26.png"/><Relationship Id="rId17" Type="http://schemas.openxmlformats.org/officeDocument/2006/relationships/image" Target="../media/image34.pn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25.png"/><Relationship Id="rId15" Type="http://schemas.openxmlformats.org/officeDocument/2006/relationships/image" Target="../media/image29.png"/><Relationship Id="rId10" Type="http://schemas.openxmlformats.org/officeDocument/2006/relationships/image" Target="../media/image6.png"/><Relationship Id="rId4" Type="http://schemas.openxmlformats.org/officeDocument/2006/relationships/image" Target="../media/image24.png"/><Relationship Id="rId9" Type="http://schemas.openxmlformats.org/officeDocument/2006/relationships/image" Target="../media/image5.png"/><Relationship Id="rId1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3700" y="6350000"/>
            <a:ext cx="11938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0" y="6350000"/>
            <a:ext cx="11811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4300" y="6985000"/>
            <a:ext cx="6731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900" y="6489700"/>
            <a:ext cx="914400" cy="914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00" y="6781800"/>
            <a:ext cx="1003300" cy="1003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5300" y="3238500"/>
            <a:ext cx="12230100" cy="123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000" b="0" i="0" u="none" strike="noStrike">
                <a:solidFill>
                  <a:srgbClr val="494A4E"/>
                </a:solidFill>
                <a:ea typeface="Pretendard Medium"/>
              </a:rPr>
              <a:t>대학원생을 위한 데이터 수집</a:t>
            </a:r>
            <a:endParaRPr lang="ko-KR" sz="6000" b="0" i="0" u="none" strike="noStrike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71800" y="4457700"/>
            <a:ext cx="12344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6000" b="0" i="0" u="none" strike="noStrike">
                <a:solidFill>
                  <a:srgbClr val="000000"/>
                </a:solidFill>
                <a:ea typeface="Pretendard Bold"/>
              </a:rPr>
              <a:t>VIBE CODING WORKSHOP</a:t>
            </a:r>
            <a:endParaRPr lang="ko-KR" sz="60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0A1CF13-E721-6209-DD0B-C0FF34063D2D}"/>
              </a:ext>
            </a:extLst>
          </p:cNvPr>
          <p:cNvSpPr txBox="1"/>
          <p:nvPr/>
        </p:nvSpPr>
        <p:spPr>
          <a:xfrm>
            <a:off x="5537200" y="7905750"/>
            <a:ext cx="84328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100" b="0" i="0" u="none" strike="noStrike">
                <a:solidFill>
                  <a:srgbClr val="C2C2C2"/>
                </a:solidFill>
                <a:ea typeface="Pretendard Medium"/>
              </a:rPr>
              <a:t>2026. 09. 29-30</a:t>
            </a:r>
            <a:endParaRPr lang="en-US" sz="2100" b="0" i="0" u="none" strike="noStrike">
              <a:solidFill>
                <a:srgbClr val="C2C2C2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9100" y="4660900"/>
            <a:ext cx="11836400" cy="1041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9100" y="5842000"/>
            <a:ext cx="11836400" cy="1041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9100" y="3479800"/>
            <a:ext cx="11836400" cy="1041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3797300"/>
            <a:ext cx="444500" cy="444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965700"/>
            <a:ext cx="444500" cy="444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6146800"/>
            <a:ext cx="444500" cy="444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presentation_index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43700" y="3784600"/>
            <a:ext cx="1739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600">
                <a:solidFill>
                  <a:srgbClr val="242629"/>
                </a:solidFill>
                <a:latin typeface="Pretendard Bold"/>
                <a:ea typeface="Pretendard Bold"/>
              </a:rPr>
              <a:t>소개</a:t>
            </a:r>
            <a:endParaRPr lang="en-US" sz="2600" b="0" i="0" u="none" strike="noStrike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737600" y="3784600"/>
            <a:ext cx="8178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400" b="0" i="0" u="none" strike="noStrike">
                <a:solidFill>
                  <a:srgbClr val="494A4E"/>
                </a:solidFill>
                <a:ea typeface="Pretendard Medium"/>
              </a:rPr>
              <a:t>강사 이력 소개 및 강의 내용 안내</a:t>
            </a:r>
            <a:endParaRPr lang="en-US" sz="2400" b="0" i="0" u="none" strike="noStrike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692900" y="4965700"/>
            <a:ext cx="1739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2600">
                <a:solidFill>
                  <a:srgbClr val="242629"/>
                </a:solidFill>
                <a:latin typeface="Pretendard Bold"/>
                <a:ea typeface="Pretendard Bold"/>
              </a:rPr>
              <a:t>만들어보기</a:t>
            </a:r>
            <a:endParaRPr lang="en-US" altLang="ko-KR" sz="260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737600" y="4940300"/>
            <a:ext cx="8178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2000">
                <a:solidFill>
                  <a:srgbClr val="494A4E"/>
                </a:solidFill>
                <a:ea typeface="Pretendard Medium"/>
              </a:rPr>
              <a:t>준비된 자료를  통해 직접 실험 웹 사이트 구축을 시작해보자</a:t>
            </a:r>
            <a:endParaRPr lang="en-US" altLang="ko-KR" sz="200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743700" y="6121400"/>
            <a:ext cx="1739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242629"/>
                </a:solidFill>
                <a:latin typeface="Pretendard Bold"/>
                <a:ea typeface="Pretendard Bold"/>
              </a:rPr>
              <a:t>고쳐보기</a:t>
            </a:r>
            <a:endParaRPr lang="en-US" sz="2600" b="0" i="0" u="none" strike="noStrike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737600" y="6121400"/>
            <a:ext cx="8178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</a:rPr>
              <a:t>빈번하게 발생하는 버그들을 퇴치하는 방법을 알아보자</a:t>
            </a:r>
            <a:r>
              <a:rPr lang="en-US" altLang="ko-KR" sz="2000">
                <a:solidFill>
                  <a:schemeClr val="tx1">
                    <a:lumMod val="65000"/>
                    <a:lumOff val="35000"/>
                  </a:schemeClr>
                </a:solidFill>
                <a:latin typeface="Pretendard Medium"/>
                <a:ea typeface="Pretendard Medium"/>
              </a:rPr>
              <a:t>!</a:t>
            </a:r>
            <a:endParaRPr lang="en-US" sz="2000" b="0" i="0" u="none" strike="noStrike">
              <a:solidFill>
                <a:schemeClr val="tx1">
                  <a:lumMod val="65000"/>
                  <a:lumOff val="35000"/>
                </a:schemeClr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목차</a:t>
            </a:r>
          </a:p>
        </p:txBody>
      </p:sp>
      <p:pic>
        <p:nvPicPr>
          <p:cNvPr id="10" name="Picture 12">
            <a:extLst>
              <a:ext uri="{FF2B5EF4-FFF2-40B4-BE49-F238E27FC236}">
                <a16:creationId xmlns:a16="http://schemas.microsoft.com/office/drawing/2014/main" id="{306354F5-5A1A-5CA3-6901-F2947E0058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9100" y="7023100"/>
            <a:ext cx="11836400" cy="1041400"/>
          </a:xfrm>
          <a:prstGeom prst="rect">
            <a:avLst/>
          </a:prstGeom>
        </p:spPr>
      </p:pic>
      <p:pic>
        <p:nvPicPr>
          <p:cNvPr id="13" name="Picture 17">
            <a:extLst>
              <a:ext uri="{FF2B5EF4-FFF2-40B4-BE49-F238E27FC236}">
                <a16:creationId xmlns:a16="http://schemas.microsoft.com/office/drawing/2014/main" id="{408D66B5-7CE4-5B8D-230B-5D88332286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7327900"/>
            <a:ext cx="444500" cy="444500"/>
          </a:xfrm>
          <a:prstGeom prst="rect">
            <a:avLst/>
          </a:prstGeom>
        </p:spPr>
      </p:pic>
      <p:sp>
        <p:nvSpPr>
          <p:cNvPr id="18" name="TextBox 25">
            <a:extLst>
              <a:ext uri="{FF2B5EF4-FFF2-40B4-BE49-F238E27FC236}">
                <a16:creationId xmlns:a16="http://schemas.microsoft.com/office/drawing/2014/main" id="{87109D70-7962-DC3C-D091-A6C16B33DD40}"/>
              </a:ext>
            </a:extLst>
          </p:cNvPr>
          <p:cNvSpPr txBox="1"/>
          <p:nvPr/>
        </p:nvSpPr>
        <p:spPr>
          <a:xfrm>
            <a:off x="6743700" y="7302500"/>
            <a:ext cx="1739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242629"/>
                </a:solidFill>
                <a:latin typeface="Pretendard Bold"/>
                <a:ea typeface="Pretendard Bold"/>
              </a:rPr>
              <a:t>Q &amp; A</a:t>
            </a:r>
            <a:endParaRPr lang="en-US" sz="2600" b="0" i="0" u="none" strike="noStrike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4AE28FA8-687A-FA42-0106-73ADC0684A51}"/>
              </a:ext>
            </a:extLst>
          </p:cNvPr>
          <p:cNvSpPr txBox="1"/>
          <p:nvPr/>
        </p:nvSpPr>
        <p:spPr>
          <a:xfrm>
            <a:off x="8737600" y="7302500"/>
            <a:ext cx="81788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endParaRPr lang="en-US" altLang="ko-KR" sz="2400">
              <a:solidFill>
                <a:schemeClr val="tx1">
                  <a:lumMod val="65000"/>
                  <a:lumOff val="35000"/>
                </a:schemeClr>
              </a:solidFill>
              <a:latin typeface="Pretendard Medium"/>
              <a:ea typeface="Pretendar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presentation_title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01-1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>
                <a:solidFill>
                  <a:srgbClr val="000000"/>
                </a:solidFill>
                <a:latin typeface="Pretendard Bold"/>
                <a:ea typeface="Pretendard Bold"/>
              </a:rPr>
              <a:t>소개</a:t>
            </a:r>
            <a:endParaRPr lang="en-US" sz="90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20800" y="8013700"/>
            <a:ext cx="84328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C2C2C2"/>
                </a:solidFill>
                <a:ea typeface="Pretendard Medium"/>
              </a:rPr>
              <a:t>강의자 본인의 연구 이력 및 </a:t>
            </a:r>
            <a:r>
              <a:rPr lang="en-US" altLang="ko-KR" sz="2100" b="0" i="0" u="none" strike="noStrike">
                <a:solidFill>
                  <a:srgbClr val="C2C2C2"/>
                </a:solidFill>
                <a:ea typeface="Pretendard Medium"/>
              </a:rPr>
              <a:t>2</a:t>
            </a:r>
            <a:r>
              <a:rPr lang="ko-KR" altLang="en-US" sz="2100" b="0" i="0" u="none" strike="noStrike">
                <a:solidFill>
                  <a:srgbClr val="C2C2C2"/>
                </a:solidFill>
                <a:ea typeface="Pretendard Medium"/>
              </a:rPr>
              <a:t>일간 학습할 내용에 대한 안내</a:t>
            </a:r>
            <a:endParaRPr lang="en-US" sz="2100" b="0" i="0" u="none" strike="noStrike">
              <a:solidFill>
                <a:srgbClr val="C2C2C2"/>
              </a:solidFill>
              <a:latin typeface="Pretendar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7763-2D24-3AB3-FBED-563235CE8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D6BDC7E-69E8-3454-85E7-63ABBCE2C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B6A685C-3224-40C6-2609-A91D7D839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0DC658A-2F0A-0ABF-C43D-2DE49BB5E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FDC46E7-DE1C-1DC0-E45B-F5B75D581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A7DF4B1-EC6F-70B8-B482-E080F8FF2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0BD70959-8AB2-2886-9F24-47C454653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90F7831A-B0CE-E6A9-8361-468AE1A78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FA0CEFF-1042-D776-63B8-2E283F3641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0239" y="3312242"/>
            <a:ext cx="15429661" cy="55245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A0B7FF4-E54F-783E-9D4D-E507DAB8A7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3594100"/>
            <a:ext cx="7315200" cy="863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268C9E29-DB18-840A-F654-0A790759D2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6135" y="3807951"/>
            <a:ext cx="444500" cy="4445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F2F98BDD-F72D-B83E-BD72-CA3CF3E16F31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강의자 소개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1FDA406-030B-0581-F6F2-584B7641BD4A}"/>
              </a:ext>
            </a:extLst>
          </p:cNvPr>
          <p:cNvSpPr txBox="1"/>
          <p:nvPr/>
        </p:nvSpPr>
        <p:spPr>
          <a:xfrm>
            <a:off x="1663700" y="4965700"/>
            <a:ext cx="14973300" cy="321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 b="0" i="0" u="none" strike="noStrike">
                <a:solidFill>
                  <a:srgbClr val="717377"/>
                </a:solidFill>
                <a:ea typeface="Pretendard Regular"/>
              </a:rPr>
              <a:t>영어영문학과 영어학 석사 과정</a:t>
            </a:r>
            <a:endParaRPr lang="en-US" altLang="ko-KR" sz="3600" b="0" i="0" u="none" strike="noStrike">
              <a:solidFill>
                <a:srgbClr val="717377"/>
              </a:solidFill>
              <a:latin typeface="Pretendard Regular"/>
              <a:ea typeface="Pretendard Regular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en-US" sz="3600">
                <a:solidFill>
                  <a:srgbClr val="717377"/>
                </a:solidFill>
                <a:latin typeface="Pretendard Regular"/>
              </a:rPr>
              <a:t>Does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AI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reflect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sound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change?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A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comparison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of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human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and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TTS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production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of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</a:rPr>
              <a:t>Korean stops, Kang and Kim (2026)</a:t>
            </a: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어릴 때부터 컴퓨터를 상당히 좋아하였음</a:t>
            </a:r>
            <a:endParaRPr lang="en-US" altLang="ko-KR" sz="3600">
              <a:solidFill>
                <a:srgbClr val="717377"/>
              </a:solidFill>
              <a:latin typeface="Pretendard Regular" panose="020B0604020202020204" charset="-127"/>
              <a:ea typeface="Pretendard Regular" panose="020B0604020202020204" charset="-127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허나 전문적인 지식은 없음에도 불구하고</a:t>
            </a:r>
            <a:r>
              <a:rPr lang="en-US" altLang="ko-KR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, </a:t>
            </a:r>
            <a:br>
              <a:rPr lang="en-US" altLang="ko-KR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</a:br>
            <a:r>
              <a:rPr lang="ko-KR" altLang="en-US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실험 웹 사이트를 만들어서 논문 작성까지 성공적으로 진행함</a:t>
            </a:r>
            <a:endParaRPr lang="en-US" altLang="ko-KR" sz="3600">
              <a:solidFill>
                <a:srgbClr val="717377"/>
              </a:solidFill>
              <a:latin typeface="Pretendard Regular" panose="020B0604020202020204" charset="-127"/>
              <a:ea typeface="Pretendard Regular" panose="020B0604020202020204" charset="-127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endParaRPr lang="en-US" sz="360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DA9BC7B-B60A-C92D-AEE7-C74FF2F1B564}"/>
              </a:ext>
            </a:extLst>
          </p:cNvPr>
          <p:cNvSpPr txBox="1"/>
          <p:nvPr/>
        </p:nvSpPr>
        <p:spPr>
          <a:xfrm>
            <a:off x="8324431" y="3782551"/>
            <a:ext cx="232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>
                <a:solidFill>
                  <a:srgbClr val="FFFFFF"/>
                </a:solidFill>
                <a:ea typeface="Pretendard Bold"/>
              </a:rPr>
              <a:t>연구이력</a:t>
            </a:r>
            <a:endParaRPr lang="ko-KR" sz="32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04DF63D-3538-A7EB-E5ED-275EAD136C68}"/>
              </a:ext>
            </a:extLst>
          </p:cNvPr>
          <p:cNvSpPr txBox="1"/>
          <p:nvPr/>
        </p:nvSpPr>
        <p:spPr>
          <a:xfrm>
            <a:off x="10033000" y="3835400"/>
            <a:ext cx="486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BF3401C-8CF4-1E4F-AD01-CB03926ED1AF}"/>
              </a:ext>
            </a:extLst>
          </p:cNvPr>
          <p:cNvSpPr txBox="1"/>
          <p:nvPr/>
        </p:nvSpPr>
        <p:spPr>
          <a:xfrm>
            <a:off x="1663700" y="8089900"/>
            <a:ext cx="66294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6BC927A-B926-CE1D-B648-02AD497F1178}"/>
              </a:ext>
            </a:extLst>
          </p:cNvPr>
          <p:cNvSpPr txBox="1"/>
          <p:nvPr/>
        </p:nvSpPr>
        <p:spPr>
          <a:xfrm>
            <a:off x="1689100" y="6959600"/>
            <a:ext cx="486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A7FFFD9-D3A1-3A43-D284-43408E70F333}"/>
              </a:ext>
            </a:extLst>
          </p:cNvPr>
          <p:cNvSpPr txBox="1"/>
          <p:nvPr/>
        </p:nvSpPr>
        <p:spPr>
          <a:xfrm>
            <a:off x="10007600" y="8089900"/>
            <a:ext cx="66294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6D93D0E-445C-6D34-3424-011E3A34FD83}"/>
              </a:ext>
            </a:extLst>
          </p:cNvPr>
          <p:cNvSpPr txBox="1"/>
          <p:nvPr/>
        </p:nvSpPr>
        <p:spPr>
          <a:xfrm>
            <a:off x="10033000" y="6959600"/>
            <a:ext cx="486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A8F5B9F8-69BF-2505-3816-1B98286AB3F4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</a:t>
            </a:r>
            <a:r>
              <a:rPr lang="en-US" sz="2000">
                <a:solidFill>
                  <a:srgbClr val="FFFFFF"/>
                </a:solidFill>
                <a:latin typeface="Pretendard Light"/>
              </a:rPr>
              <a:t>curriculum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348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89FC-C2F9-27E2-443D-07CB9F29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2CB383A-1B5E-C061-30CA-3703F75E1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403B262-9ED6-74E5-B80E-62BE6987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96B02CA-9F4F-6540-C2C3-AE39FF14A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3031FC6-4C89-689A-54A6-31756C43C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BB4C1F09-51E8-866B-E4A8-F355CFCB0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23BE31C-118C-9F87-C8C6-E0F90091BE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28024E8-A14B-6FF4-7E00-9108B59CB0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F444A1EB-594D-D8B7-3336-B605D10093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0239" y="3312242"/>
            <a:ext cx="15429661" cy="55245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F640DE6-5556-8D21-2017-874989AD06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3594100"/>
            <a:ext cx="7315200" cy="863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02D8BA2B-F4CE-917D-2AD1-B29FD006DB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096135" y="3807951"/>
            <a:ext cx="444500" cy="4445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CBDA38FE-E73E-871E-6A35-030208873CBC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강의자 소개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2E38CE8-6249-06D3-51ED-10B885698767}"/>
              </a:ext>
            </a:extLst>
          </p:cNvPr>
          <p:cNvSpPr txBox="1"/>
          <p:nvPr/>
        </p:nvSpPr>
        <p:spPr>
          <a:xfrm>
            <a:off x="1663700" y="4965700"/>
            <a:ext cx="14973300" cy="321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실험 </a:t>
            </a:r>
            <a:r>
              <a:rPr lang="en-US" altLang="ko-KR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1: </a:t>
            </a:r>
            <a:r>
              <a:rPr lang="ko-KR" altLang="en-US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방금 언급한 논문에서는 </a:t>
            </a:r>
            <a:r>
              <a:rPr lang="en-US" altLang="ko-KR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TTS 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  <a:ea typeface="Pretendard Regular"/>
              </a:rPr>
              <a:t>관련 연구를 함</a:t>
            </a:r>
            <a:endParaRPr lang="en-US" altLang="ko-KR" sz="3600">
              <a:solidFill>
                <a:srgbClr val="717377"/>
              </a:solidFill>
              <a:latin typeface="Pretendard Regular"/>
              <a:ea typeface="Pretendard Regular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이 연구에선 목소리의 </a:t>
            </a:r>
            <a:r>
              <a:rPr lang="en-US" altLang="ko-KR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‘</a:t>
            </a:r>
            <a:r>
              <a:rPr lang="ko-KR" altLang="en-US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연령대</a:t>
            </a:r>
            <a:r>
              <a:rPr lang="en-US" altLang="ko-KR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’</a:t>
            </a:r>
            <a:r>
              <a:rPr lang="ko-KR" altLang="en-US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가 어떻게 지각되는지가 중요 </a:t>
            </a:r>
            <a:r>
              <a:rPr lang="en-US" altLang="ko-KR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point</a:t>
            </a: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>
                <a:solidFill>
                  <a:srgbClr val="717377"/>
                </a:solidFill>
                <a:latin typeface="Pretendard Regular"/>
                <a:ea typeface="Pretendard Regular"/>
              </a:rPr>
              <a:t>따라서 이를 측정하는 웹 사이트를 퍼플렉시티를 통해 만들어서 진행</a:t>
            </a:r>
            <a:br>
              <a:rPr lang="en-US" altLang="ko-KR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</a:br>
            <a:r>
              <a:rPr lang="ko-KR" altLang="en-US" sz="3600" b="0" i="0" u="none" strike="noStrike">
                <a:solidFill>
                  <a:srgbClr val="717377"/>
                </a:solidFill>
                <a:latin typeface="Pretendard Regular"/>
                <a:ea typeface="Pretendard Regular"/>
              </a:rPr>
              <a:t> </a:t>
            </a:r>
            <a:endParaRPr lang="en-US" altLang="ko-KR" sz="3600" b="0" i="0" u="none" strike="noStrike">
              <a:solidFill>
                <a:srgbClr val="717377"/>
              </a:solidFill>
              <a:latin typeface="Pretendard Regular"/>
              <a:ea typeface="Pretendard Regular"/>
            </a:endParaRPr>
          </a:p>
          <a:p>
            <a:pPr marL="571500" lvl="0" indent="-571500" algn="l">
              <a:lnSpc>
                <a:spcPct val="99600"/>
              </a:lnSpc>
              <a:buFontTx/>
              <a:buChar char="-"/>
            </a:pPr>
            <a:r>
              <a:rPr lang="ko-KR" altLang="en-US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실험 </a:t>
            </a:r>
            <a:r>
              <a:rPr lang="en-US" altLang="ko-KR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2: </a:t>
            </a:r>
            <a:r>
              <a:rPr lang="ko-KR" altLang="en-US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학위논문</a:t>
            </a:r>
            <a:r>
              <a:rPr lang="en-US" altLang="ko-KR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(in progress)</a:t>
            </a:r>
            <a:r>
              <a:rPr lang="ko-KR" altLang="en-US" sz="3600">
                <a:solidFill>
                  <a:srgbClr val="717377"/>
                </a:solidFill>
                <a:latin typeface="Pretendard Regular" panose="020B0604020202020204" charset="-127"/>
                <a:ea typeface="Pretendard Regular" panose="020B0604020202020204" charset="-127"/>
              </a:rPr>
              <a:t>에서 진행 예정인 실험</a:t>
            </a:r>
            <a:endParaRPr lang="en-US" altLang="ko-KR" sz="3600">
              <a:solidFill>
                <a:srgbClr val="717377"/>
              </a:solidFill>
              <a:latin typeface="Pretendard Regular"/>
              <a:ea typeface="Pretendard Regular" panose="020B0604020202020204" charset="-127"/>
            </a:endParaRPr>
          </a:p>
          <a:p>
            <a:pPr marL="571500" lvl="0" indent="-571500">
              <a:lnSpc>
                <a:spcPct val="99600"/>
              </a:lnSpc>
              <a:buFontTx/>
              <a:buChar char="-"/>
            </a:pPr>
            <a:r>
              <a:rPr lang="ko-KR" altLang="en-US" sz="3600">
                <a:solidFill>
                  <a:srgbClr val="717377"/>
                </a:solidFill>
                <a:latin typeface="Pretendard Regular"/>
                <a:ea typeface="Pretendard Regular" panose="020B0604020202020204" charset="-127"/>
              </a:rPr>
              <a:t>간단한 리커트 척도 측정을 넘어서 다양한 매체 활용 </a:t>
            </a:r>
            <a:r>
              <a:rPr lang="en-US" altLang="ko-KR" sz="3600">
                <a:solidFill>
                  <a:srgbClr val="717377"/>
                </a:solidFill>
                <a:latin typeface="Pretendard Regular"/>
                <a:ea typeface="Pretendard Regular" panose="020B0604020202020204" charset="-127"/>
              </a:rPr>
              <a:t>+ </a:t>
            </a:r>
            <a:r>
              <a:rPr lang="ko-KR" altLang="en-US" sz="3600">
                <a:solidFill>
                  <a:srgbClr val="717377"/>
                </a:solidFill>
                <a:latin typeface="Pretendard Regular"/>
                <a:ea typeface="Pretendard Regular" panose="020B0604020202020204" charset="-127"/>
              </a:rPr>
              <a:t>녹음 실험까지 가능</a:t>
            </a:r>
            <a:br>
              <a:rPr lang="en-US" altLang="ko-KR" sz="3600">
                <a:solidFill>
                  <a:srgbClr val="717377"/>
                </a:solidFill>
                <a:latin typeface="Pretendard Regular"/>
                <a:ea typeface="Pretendard Regular" panose="020B0604020202020204" charset="-127"/>
              </a:rPr>
            </a:br>
            <a:r>
              <a:rPr lang="en-US" altLang="ko-KR" sz="3600">
                <a:solidFill>
                  <a:srgbClr val="717377"/>
                </a:solidFill>
                <a:latin typeface="Pretendard Regular"/>
                <a:ea typeface="Pretendard Regular" panose="020B0604020202020204" charset="-127"/>
                <a:hlinkClick r:id="rId12"/>
              </a:rPr>
              <a:t>https://newtownman.github.io/ratingtask2026/</a:t>
            </a:r>
            <a:endParaRPr lang="en-US" altLang="ko-KR" sz="3600">
              <a:solidFill>
                <a:srgbClr val="717377"/>
              </a:solidFill>
              <a:latin typeface="Pretendard Regular" panose="020B0604020202020204" charset="-127"/>
              <a:ea typeface="Pretendard Regular" panose="020B0604020202020204" charset="-127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D9E15C7-6A0E-9B64-2B11-B3B536A8E30C}"/>
              </a:ext>
            </a:extLst>
          </p:cNvPr>
          <p:cNvSpPr txBox="1"/>
          <p:nvPr/>
        </p:nvSpPr>
        <p:spPr>
          <a:xfrm>
            <a:off x="8324431" y="3782551"/>
            <a:ext cx="232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>
                <a:solidFill>
                  <a:srgbClr val="FFFFFF"/>
                </a:solidFill>
                <a:ea typeface="Pretendard Bold"/>
              </a:rPr>
              <a:t>연구이력</a:t>
            </a:r>
            <a:r>
              <a:rPr lang="en-US" altLang="ko-KR" sz="3200" b="0" i="0" u="none" strike="noStrike">
                <a:solidFill>
                  <a:srgbClr val="FFFFFF"/>
                </a:solidFill>
                <a:ea typeface="Pretendard Bold"/>
              </a:rPr>
              <a:t>(2)</a:t>
            </a:r>
            <a:endParaRPr lang="ko-KR" sz="32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CCB0248-BEF7-B688-7DC6-DFECFA829D2C}"/>
              </a:ext>
            </a:extLst>
          </p:cNvPr>
          <p:cNvSpPr txBox="1"/>
          <p:nvPr/>
        </p:nvSpPr>
        <p:spPr>
          <a:xfrm>
            <a:off x="10033000" y="3835400"/>
            <a:ext cx="486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5F8AB5B-404E-5111-BE3C-387D57634768}"/>
              </a:ext>
            </a:extLst>
          </p:cNvPr>
          <p:cNvSpPr txBox="1"/>
          <p:nvPr/>
        </p:nvSpPr>
        <p:spPr>
          <a:xfrm>
            <a:off x="1663700" y="8089900"/>
            <a:ext cx="66294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2B02A48-9D2D-C257-84E3-DC497BE985F8}"/>
              </a:ext>
            </a:extLst>
          </p:cNvPr>
          <p:cNvSpPr txBox="1"/>
          <p:nvPr/>
        </p:nvSpPr>
        <p:spPr>
          <a:xfrm>
            <a:off x="1689100" y="6959600"/>
            <a:ext cx="486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42F35FE-238D-0881-903D-BE84F64846C3}"/>
              </a:ext>
            </a:extLst>
          </p:cNvPr>
          <p:cNvSpPr txBox="1"/>
          <p:nvPr/>
        </p:nvSpPr>
        <p:spPr>
          <a:xfrm>
            <a:off x="10007600" y="8089900"/>
            <a:ext cx="66294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9AD0547-609F-18B8-5501-C8B4A1ACDC99}"/>
              </a:ext>
            </a:extLst>
          </p:cNvPr>
          <p:cNvSpPr txBox="1"/>
          <p:nvPr/>
        </p:nvSpPr>
        <p:spPr>
          <a:xfrm>
            <a:off x="10033000" y="6959600"/>
            <a:ext cx="48641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238BACCE-5014-6BAC-01B0-75072770BD15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</a:t>
            </a:r>
            <a:r>
              <a:rPr lang="en-US" sz="2000">
                <a:solidFill>
                  <a:srgbClr val="FFFFFF"/>
                </a:solidFill>
                <a:latin typeface="Pretendard Light"/>
              </a:rPr>
              <a:t>curriculum</a:t>
            </a:r>
            <a:endParaRPr lang="en-US" sz="2000" b="0" i="0" u="none" strike="noStrike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09533B-6E5F-EB27-49D9-80968767FD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13212" y="612167"/>
            <a:ext cx="6544588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99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C1D1-4E58-9BCA-34D0-51DE967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F153AAB-4022-F05B-016C-4DFC2EBFD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92DC7B1-8681-B563-3419-785CD9744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2781300"/>
            <a:ext cx="1130300" cy="207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E9484A1-2B64-C30F-4747-DA4FB43C8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4000500"/>
            <a:ext cx="1130300" cy="2070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ED9D6A3-D94F-4F4D-E391-1D5215CF6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5207000"/>
            <a:ext cx="1130300" cy="207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5E50A21-D940-4678-9AB0-C47339DAB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6426200"/>
            <a:ext cx="1130300" cy="2070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D75F9C0C-A09A-65A0-C86D-339849B88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7645400"/>
            <a:ext cx="1130300" cy="2070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CA777FD-3061-3774-2059-ADC0B7289F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5400000">
            <a:off x="-266700" y="6172200"/>
            <a:ext cx="3949700" cy="101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8ABC743-AB41-FE5B-0CA5-332A5A4EE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3251200"/>
            <a:ext cx="12573000" cy="11303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1234093B-C1A6-3503-8C63-15D77A411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4470400"/>
            <a:ext cx="12573000" cy="11303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336FE65C-89BF-AFA8-DB29-FA6A4F558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5689600"/>
            <a:ext cx="12573000" cy="1130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1F9FFD04-A0F4-7F79-A33C-6EF079614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6908800"/>
            <a:ext cx="12573000" cy="1130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40D242C0-2B43-0473-034C-0AFEE0994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8115300"/>
            <a:ext cx="12573000" cy="11303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B29C27BD-5F20-5FD2-30A6-66C9A3B95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2C1BD358-1ECF-1403-FEA4-733D413EAC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21B5027-631F-BD26-BC66-52EF6415BF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AED8F21F-E77F-A38A-6782-942D1E42D6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B8883C2-E1D7-B5E1-AB56-EB435368DE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D5E86166-2BC2-C8C8-700A-9705BD1899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2541A41F-DE19-CD3E-9119-BD9F2D4EA8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800" y="3429000"/>
            <a:ext cx="762000" cy="762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38105916-B4CF-C4CD-8D82-D83E491908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800" y="4648200"/>
            <a:ext cx="762000" cy="7620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8EF28B14-FF0B-8F16-EDFC-3C5CED36109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" y="5867400"/>
            <a:ext cx="762000" cy="7620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9E355A08-B27B-EB90-7A4F-9657D3D781D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0800" y="7086600"/>
            <a:ext cx="762000" cy="7620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E370B29B-08DE-13A9-1899-2A63CEF8901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0800" y="8305800"/>
            <a:ext cx="762000" cy="7620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344E8CBB-1039-F2BD-8996-FAB413109D53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 개요 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2FC847A-3BF4-E6A1-2A5B-13DA4BA22AB1}"/>
              </a:ext>
            </a:extLst>
          </p:cNvPr>
          <p:cNvSpPr txBox="1"/>
          <p:nvPr/>
        </p:nvSpPr>
        <p:spPr>
          <a:xfrm>
            <a:off x="5499100" y="36449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latin typeface="Pretendard Regular"/>
              </a:rPr>
              <a:t>웹사이트 견본을 통해 간단하게 학습을 시작합시다</a:t>
            </a:r>
            <a:r>
              <a:rPr lang="en-US" altLang="ko-KR" sz="2100" b="0" i="0" u="none" strike="noStrike">
                <a:solidFill>
                  <a:srgbClr val="717377"/>
                </a:solidFill>
                <a:latin typeface="Pretendard Regular"/>
              </a:rPr>
              <a:t>.</a:t>
            </a:r>
            <a:r>
              <a:rPr lang="ko-KR" altLang="en-US" sz="2100" b="0" i="0" u="none" strike="noStrike">
                <a:solidFill>
                  <a:srgbClr val="717377"/>
                </a:solidFill>
                <a:latin typeface="Pretendard Regular"/>
              </a:rPr>
              <a:t> 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4D3796C-D04E-5775-AA7A-E904FC605429}"/>
              </a:ext>
            </a:extLst>
          </p:cNvPr>
          <p:cNvSpPr txBox="1"/>
          <p:nvPr/>
        </p:nvSpPr>
        <p:spPr>
          <a:xfrm>
            <a:off x="2717800" y="35687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>
                <a:solidFill>
                  <a:srgbClr val="FFFFFF"/>
                </a:solidFill>
                <a:ea typeface="Pretendard Bold"/>
              </a:rPr>
              <a:t>구축 실습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BF3939D-59F0-135F-E10C-39426E25B1AD}"/>
              </a:ext>
            </a:extLst>
          </p:cNvPr>
          <p:cNvSpPr txBox="1"/>
          <p:nvPr/>
        </p:nvSpPr>
        <p:spPr>
          <a:xfrm>
            <a:off x="5499100" y="48514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latin typeface="Pretendard Regular"/>
              </a:rPr>
              <a:t>빈번하게 발생하는 오류들을 찾아서 토큰 낭비를 예방해봅시다</a:t>
            </a:r>
            <a:r>
              <a:rPr lang="en-US" altLang="ko-KR" sz="2100" b="0" i="0" u="none" strike="noStrike">
                <a:solidFill>
                  <a:srgbClr val="717377"/>
                </a:solidFill>
                <a:latin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8CBC7D9-74E9-7A49-8C67-B164A2EED676}"/>
              </a:ext>
            </a:extLst>
          </p:cNvPr>
          <p:cNvSpPr txBox="1"/>
          <p:nvPr/>
        </p:nvSpPr>
        <p:spPr>
          <a:xfrm>
            <a:off x="2660081" y="4787900"/>
            <a:ext cx="16764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디버깅 연습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BFF64C2-C748-0E0F-73DF-E6F9BBBD6F40}"/>
              </a:ext>
            </a:extLst>
          </p:cNvPr>
          <p:cNvSpPr txBox="1"/>
          <p:nvPr/>
        </p:nvSpPr>
        <p:spPr>
          <a:xfrm>
            <a:off x="5499100" y="60452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백엔드를 구축하여 실험 데이터를 자동으로 수집해봅시다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A665EF5-5F22-5662-5CE8-B9FEEEA1295C}"/>
              </a:ext>
            </a:extLst>
          </p:cNvPr>
          <p:cNvSpPr txBox="1"/>
          <p:nvPr/>
        </p:nvSpPr>
        <p:spPr>
          <a:xfrm>
            <a:off x="2631648" y="5994400"/>
            <a:ext cx="16764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백엔드 구축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623001C-062E-8905-B9A8-ED8460DDC715}"/>
              </a:ext>
            </a:extLst>
          </p:cNvPr>
          <p:cNvSpPr txBox="1"/>
          <p:nvPr/>
        </p:nvSpPr>
        <p:spPr>
          <a:xfrm>
            <a:off x="5499100" y="72898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녹음 기능까지 포함된 실험 사이트를 백엔드와 연결하여 본인의 사이트를 실험해봅시다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A8CF2BB-BA47-EA98-EFD5-CB33D8BA3421}"/>
              </a:ext>
            </a:extLst>
          </p:cNvPr>
          <p:cNvSpPr txBox="1"/>
          <p:nvPr/>
        </p:nvSpPr>
        <p:spPr>
          <a:xfrm>
            <a:off x="2717800" y="7213600"/>
            <a:ext cx="15875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사이트 구동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D5036CD-E1A7-B986-FA21-A8550FC6A912}"/>
              </a:ext>
            </a:extLst>
          </p:cNvPr>
          <p:cNvSpPr txBox="1"/>
          <p:nvPr/>
        </p:nvSpPr>
        <p:spPr>
          <a:xfrm>
            <a:off x="5499100" y="85090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축하합니다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 </a:t>
            </a: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이제 당신은 손쉽게 실험용 웹사이트를 구축할 수 있습니다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D97AD62-1201-C010-FED0-E88D748D16ED}"/>
              </a:ext>
            </a:extLst>
          </p:cNvPr>
          <p:cNvSpPr txBox="1"/>
          <p:nvPr/>
        </p:nvSpPr>
        <p:spPr>
          <a:xfrm>
            <a:off x="2717800" y="84328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SUCCESS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4E53C22A-C33D-CE13-1100-BEE45BDB913F}"/>
              </a:ext>
            </a:extLst>
          </p:cNvPr>
          <p:cNvSpPr txBox="1"/>
          <p:nvPr/>
        </p:nvSpPr>
        <p:spPr>
          <a:xfrm>
            <a:off x="1308100" y="35941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8A33763E-A4EC-BBE2-EB13-DA6E1F82BA59}"/>
              </a:ext>
            </a:extLst>
          </p:cNvPr>
          <p:cNvSpPr txBox="1"/>
          <p:nvPr/>
        </p:nvSpPr>
        <p:spPr>
          <a:xfrm>
            <a:off x="1308100" y="48133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0D0E205C-B747-EDA1-0C87-DA2A64B0E6A5}"/>
              </a:ext>
            </a:extLst>
          </p:cNvPr>
          <p:cNvSpPr txBox="1"/>
          <p:nvPr/>
        </p:nvSpPr>
        <p:spPr>
          <a:xfrm>
            <a:off x="1308100" y="60198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31006F22-6822-C472-8582-8F3B4C15AF31}"/>
              </a:ext>
            </a:extLst>
          </p:cNvPr>
          <p:cNvSpPr txBox="1"/>
          <p:nvPr/>
        </p:nvSpPr>
        <p:spPr>
          <a:xfrm>
            <a:off x="1308100" y="7239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82B01046-DD6B-104A-4BF0-E19F90DEE506}"/>
              </a:ext>
            </a:extLst>
          </p:cNvPr>
          <p:cNvSpPr txBox="1"/>
          <p:nvPr/>
        </p:nvSpPr>
        <p:spPr>
          <a:xfrm>
            <a:off x="1308100" y="84582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28D97C1-B5F8-A8B7-13AD-E89F4AC2BE8A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presentation_process</a:t>
            </a:r>
          </a:p>
        </p:txBody>
      </p:sp>
      <p:sp>
        <p:nvSpPr>
          <p:cNvPr id="44" name="양쪽 대괄호 43">
            <a:extLst>
              <a:ext uri="{FF2B5EF4-FFF2-40B4-BE49-F238E27FC236}">
                <a16:creationId xmlns:a16="http://schemas.microsoft.com/office/drawing/2014/main" id="{2EE9A9F8-81D0-8856-B13B-65A95B18F41C}"/>
              </a:ext>
            </a:extLst>
          </p:cNvPr>
          <p:cNvSpPr/>
          <p:nvPr/>
        </p:nvSpPr>
        <p:spPr>
          <a:xfrm>
            <a:off x="901700" y="3365500"/>
            <a:ext cx="16916400" cy="22987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양쪽 대괄호 46">
            <a:extLst>
              <a:ext uri="{FF2B5EF4-FFF2-40B4-BE49-F238E27FC236}">
                <a16:creationId xmlns:a16="http://schemas.microsoft.com/office/drawing/2014/main" id="{33C1A44F-5BCA-8871-CD06-1E2C7B0106A6}"/>
              </a:ext>
            </a:extLst>
          </p:cNvPr>
          <p:cNvSpPr/>
          <p:nvPr/>
        </p:nvSpPr>
        <p:spPr>
          <a:xfrm>
            <a:off x="901700" y="5904078"/>
            <a:ext cx="16916400" cy="2298700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08BB47-0A1F-50D9-8A63-FBCCF19CA55F}"/>
              </a:ext>
            </a:extLst>
          </p:cNvPr>
          <p:cNvSpPr txBox="1"/>
          <p:nvPr/>
        </p:nvSpPr>
        <p:spPr>
          <a:xfrm>
            <a:off x="457200" y="4096335"/>
            <a:ext cx="52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1</a:t>
            </a:r>
          </a:p>
          <a:p>
            <a:r>
              <a:rPr lang="ko-KR" altLang="en-US"/>
              <a:t>일</a:t>
            </a:r>
            <a:endParaRPr lang="en-US" altLang="ko-KR"/>
          </a:p>
          <a:p>
            <a:r>
              <a:rPr lang="ko-KR" altLang="en-US"/>
              <a:t>차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CCF343-F213-9633-3988-25290E6F9F86}"/>
              </a:ext>
            </a:extLst>
          </p:cNvPr>
          <p:cNvSpPr txBox="1"/>
          <p:nvPr/>
        </p:nvSpPr>
        <p:spPr>
          <a:xfrm>
            <a:off x="457200" y="6556107"/>
            <a:ext cx="52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 2</a:t>
            </a:r>
          </a:p>
          <a:p>
            <a:r>
              <a:rPr lang="ko-KR" altLang="en-US"/>
              <a:t>일</a:t>
            </a:r>
            <a:endParaRPr lang="en-US" altLang="ko-KR"/>
          </a:p>
          <a:p>
            <a:r>
              <a:rPr lang="ko-KR" altLang="en-US"/>
              <a:t>차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117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D16586-A845-D961-79F7-C9229FB7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E86F87F-3FAD-C2A3-4372-C7C9785BC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3D238A2-6823-5C54-7B84-EBE59910A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872CEB4-C8B5-9A03-C570-687F9DB14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7CB8913-66F5-8B9F-C96A-3FD5249FA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7B97E24-8B7A-FB25-45BA-28AD7FE7D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4A2E408F-6426-402E-1C55-07C0563486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FA1B80D-9122-414E-9891-3B3DE87A85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005D0D0-5B0E-84DE-8F0B-71A6CE65E2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F308715-B903-FB7A-DB46-B231852CD7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F6ECB74-0D20-45D0-CE12-0F9042E22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E5990A04-7FBD-CC9A-1D63-E69C3504D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744FD9A2-1216-FB63-944C-6CCC9173AB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4E807A9-6E3C-0B48-D629-0E5A4DD019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1F18822-373D-07FE-DEC7-32DE15F49A62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presentation_title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F0A0E2F-21A3-4783-9DCE-C9D8DE343E6B}"/>
              </a:ext>
            </a:extLst>
          </p:cNvPr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0</a:t>
            </a:r>
            <a:r>
              <a:rPr lang="en-US" sz="4500">
                <a:solidFill>
                  <a:srgbClr val="C2C2C2"/>
                </a:solidFill>
                <a:latin typeface="Pretendard Medium"/>
              </a:rPr>
              <a:t>1-</a:t>
            </a: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5A7E3A-8F17-E926-10D3-3A905F4451EA}"/>
              </a:ext>
            </a:extLst>
          </p:cNvPr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 b="0" i="0" u="none" strike="noStrike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사이트 </a:t>
            </a:r>
            <a:endParaRPr lang="en-US" altLang="ko-KR" sz="9000" b="0" i="0" u="none" strike="noStrike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9000" b="0" i="0" u="none" strike="noStrike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구축하기</a:t>
            </a:r>
            <a:endParaRPr lang="en-US" sz="9000" b="0" i="0" u="none" strike="noStrike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1FEEEB2-0929-25EA-E0B1-02F9AE442027}"/>
              </a:ext>
            </a:extLst>
          </p:cNvPr>
          <p:cNvSpPr txBox="1"/>
          <p:nvPr/>
        </p:nvSpPr>
        <p:spPr>
          <a:xfrm>
            <a:off x="1320800" y="8013700"/>
            <a:ext cx="84328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>
                <a:solidFill>
                  <a:srgbClr val="C2C2C2"/>
                </a:solidFill>
                <a:latin typeface="Pretendard Bold" panose="020B0600000101010101" charset="-127"/>
                <a:ea typeface="Pretendard Bold" panose="020B0600000101010101" charset="-127"/>
              </a:rPr>
              <a:t>템플릿으로 내 실험 사이트 만들기</a:t>
            </a:r>
            <a:endParaRPr lang="en-US" sz="2800" b="0" i="0" u="none" strike="noStrike">
              <a:solidFill>
                <a:srgbClr val="C2C2C2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289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35355-957E-917F-8188-AE99535B3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F44E9C6-51E0-8425-2DFF-D356A925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DC78A15-C397-B1C3-10EF-8FD8A619D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22EF2CF-66DC-FF6B-2CDB-6D04053CD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CCBBEFF-1089-38BB-002C-D2896FF53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F66BA08E-E1A8-25C6-78F1-B4E093914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52499DA-24C2-3D9C-300A-7D6D9546F6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A17D7EC-D25A-828B-2021-3FCCCC688E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C5324077-18A4-A146-9015-9D48B6AFA3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A1B607A-7B0E-C490-7B75-39D85B48EA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69067805-3A06-DA63-F80B-FAEF3A996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36F942B3-8BA9-6001-20A5-90ED692CC8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83E8ABB9-0EFD-5950-866F-C39B6DB14E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1EA8C6A1-D86A-323A-19CA-90208B95CC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9943F2B4-C13E-62CA-1CD8-E9DECE0F32A0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presentation_title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F8F5271-3A5A-EBBA-DD87-346EA20216DD}"/>
              </a:ext>
            </a:extLst>
          </p:cNvPr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0</a:t>
            </a:r>
            <a:r>
              <a:rPr lang="en-US" sz="4500">
                <a:solidFill>
                  <a:srgbClr val="C2C2C2"/>
                </a:solidFill>
                <a:latin typeface="Pretendard Medium"/>
              </a:rPr>
              <a:t>1-</a:t>
            </a: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2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B63BF58-F2FA-5299-5858-4A09DA47CC42}"/>
              </a:ext>
            </a:extLst>
          </p:cNvPr>
          <p:cNvSpPr txBox="1"/>
          <p:nvPr/>
        </p:nvSpPr>
        <p:spPr>
          <a:xfrm>
            <a:off x="1320800" y="2730500"/>
            <a:ext cx="15786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본인</a:t>
            </a:r>
            <a:r>
              <a:rPr lang="en-US" altLang="ko-KR" sz="90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ID</a:t>
            </a:r>
            <a:r>
              <a:rPr lang="en-US" sz="90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.github.io/</a:t>
            </a:r>
            <a:br>
              <a:rPr lang="en-US" sz="90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</a:br>
            <a:r>
              <a:rPr lang="ko-KR" altLang="en-US" sz="90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본인레포지토리이름</a:t>
            </a:r>
            <a:r>
              <a:rPr lang="en-US" sz="90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/index.html</a:t>
            </a:r>
            <a:endParaRPr lang="en-US" sz="9000" b="0" i="0" u="none" strike="noStrike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086A796-8693-A3B3-9F19-D635B33ED940}"/>
              </a:ext>
            </a:extLst>
          </p:cNvPr>
          <p:cNvSpPr txBox="1"/>
          <p:nvPr/>
        </p:nvSpPr>
        <p:spPr>
          <a:xfrm>
            <a:off x="1320800" y="8013700"/>
            <a:ext cx="84328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>
                <a:solidFill>
                  <a:srgbClr val="C2C2C2"/>
                </a:solidFill>
                <a:latin typeface="Pretendard Bold" panose="020B0600000101010101" charset="-127"/>
                <a:ea typeface="Pretendard Bold" panose="020B0600000101010101" charset="-127"/>
              </a:rPr>
              <a:t>템플릿으로 내 실험 사이트 만들기</a:t>
            </a:r>
            <a:endParaRPr lang="en-US" sz="2800" b="0" i="0" u="none" strike="noStrike">
              <a:solidFill>
                <a:srgbClr val="C2C2C2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44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8DE97-A873-4B01-2F1A-19E6E279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4B527E6-8912-59EE-EEEA-455FD5D1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B3BFCC4-AB3E-A9A3-8DC9-A55074D9E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2781300"/>
            <a:ext cx="1130300" cy="207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173C88A-078C-89AA-12C2-68D67E670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4000500"/>
            <a:ext cx="1130300" cy="2070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5E0F5DA-6B12-2FE6-55C8-C76E489CE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5207000"/>
            <a:ext cx="1130300" cy="207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7A0E2491-D0A1-0529-8619-8A2AF7F36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6426200"/>
            <a:ext cx="1130300" cy="2070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A43408D-567D-1728-6D9F-49E76DDA1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7645400"/>
            <a:ext cx="1130300" cy="2070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A36DBF4-CA5D-40F2-A602-7217AF700BC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5400000">
            <a:off x="-266700" y="6172200"/>
            <a:ext cx="3949700" cy="101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A257129-409E-BDD2-9C55-13CAB8457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3251200"/>
            <a:ext cx="12573000" cy="11303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6E8AB708-76DA-DF5A-B7F6-56D406067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4470400"/>
            <a:ext cx="12573000" cy="11303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924594E1-235B-CFD6-FB76-B908BE8DB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5689600"/>
            <a:ext cx="12573000" cy="1130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10E43BC0-A42C-C99E-A108-250C46D24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6908800"/>
            <a:ext cx="12573000" cy="1130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9A304CC7-16FC-DEA7-F5CE-9F8767B98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8115300"/>
            <a:ext cx="12573000" cy="11303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2044648-16FE-5970-3D3C-C270F1930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FEFF9939-DF7F-B0A2-F4A8-43C5D9F398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B759DBBE-DC92-088C-EC6A-FAF5E5ED81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CDD4D45B-0D53-75B5-A2C5-0281FA5BDD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B8DD9B1B-67F1-1B36-B3E1-BDE89B057A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361A2DF6-43A7-80BB-9072-B90FA3926D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5E6CA12C-AF92-C809-8224-9C0794C56A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800" y="3429000"/>
            <a:ext cx="762000" cy="762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B1DA35B0-A17B-80F1-D468-7578184095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800" y="4648200"/>
            <a:ext cx="762000" cy="7620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FDCB3AF1-1505-E6BE-896E-79FD6FB01B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" y="5867400"/>
            <a:ext cx="762000" cy="7620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289DDA32-7272-3B01-3D85-21F4C296F1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0800" y="7086600"/>
            <a:ext cx="762000" cy="7620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802DBDB5-0436-54A5-E53A-AA5B4BC2059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0800" y="8305800"/>
            <a:ext cx="762000" cy="7620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E394CC8D-9DC2-1ACF-60DA-8F0436D75DEE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 개요 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7C14319-58F6-B9A1-E1BB-6B28F346F7B2}"/>
              </a:ext>
            </a:extLst>
          </p:cNvPr>
          <p:cNvSpPr txBox="1"/>
          <p:nvPr/>
        </p:nvSpPr>
        <p:spPr>
          <a:xfrm>
            <a:off x="5499100" y="36449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박사과정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860F819-CEF3-0F0D-E19C-F03B6DA22B23}"/>
              </a:ext>
            </a:extLst>
          </p:cNvPr>
          <p:cNvSpPr txBox="1"/>
          <p:nvPr/>
        </p:nvSpPr>
        <p:spPr>
          <a:xfrm>
            <a:off x="2717800" y="35687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>
                <a:solidFill>
                  <a:srgbClr val="FFFFFF"/>
                </a:solidFill>
                <a:ea typeface="Pretendard Bold"/>
              </a:rPr>
              <a:t>1</a:t>
            </a:r>
            <a:r>
              <a:rPr lang="ko-KR" altLang="en-US" sz="2600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E58F819-5525-B520-B001-44D6A1073646}"/>
              </a:ext>
            </a:extLst>
          </p:cNvPr>
          <p:cNvSpPr txBox="1"/>
          <p:nvPr/>
        </p:nvSpPr>
        <p:spPr>
          <a:xfrm>
            <a:off x="5499100" y="48514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석사과정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966A632-087F-522C-D54C-C72F455AB501}"/>
              </a:ext>
            </a:extLst>
          </p:cNvPr>
          <p:cNvSpPr txBox="1"/>
          <p:nvPr/>
        </p:nvSpPr>
        <p:spPr>
          <a:xfrm>
            <a:off x="2717800" y="47879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2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245DAEC-AB5E-59AE-14D7-0BCF2B7E0356}"/>
              </a:ext>
            </a:extLst>
          </p:cNvPr>
          <p:cNvSpPr txBox="1"/>
          <p:nvPr/>
        </p:nvSpPr>
        <p:spPr>
          <a:xfrm>
            <a:off x="5499100" y="60452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예비발표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 웹 신청</a:t>
            </a:r>
            <a:b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</a:b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예비발표의 경우 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4/10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월에 진행되는데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방학 중의 세미나에서 예비발표를 할 수도 있음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AB0A577-1C59-C804-6DF9-5D6ABFA0685A}"/>
              </a:ext>
            </a:extLst>
          </p:cNvPr>
          <p:cNvSpPr txBox="1"/>
          <p:nvPr/>
        </p:nvSpPr>
        <p:spPr>
          <a:xfrm>
            <a:off x="2717800" y="60071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3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4405A6D8-B63C-064C-480E-B9716F422714}"/>
              </a:ext>
            </a:extLst>
          </p:cNvPr>
          <p:cNvSpPr txBox="1"/>
          <p:nvPr/>
        </p:nvSpPr>
        <p:spPr>
          <a:xfrm>
            <a:off x="5499100" y="72898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 논문제출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본발표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논문심사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4A1D7F3-C60E-E683-814C-EA072FCE638B}"/>
              </a:ext>
            </a:extLst>
          </p:cNvPr>
          <p:cNvSpPr txBox="1"/>
          <p:nvPr/>
        </p:nvSpPr>
        <p:spPr>
          <a:xfrm>
            <a:off x="2717800" y="72136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4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F34D8E36-EEEA-2CE5-E6A1-CF52056234DC}"/>
              </a:ext>
            </a:extLst>
          </p:cNvPr>
          <p:cNvSpPr txBox="1"/>
          <p:nvPr/>
        </p:nvSpPr>
        <p:spPr>
          <a:xfrm>
            <a:off x="5499100" y="85090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축하합니다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 </a:t>
            </a: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당신은 졸업했습니다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F25C133-C000-AFE7-A3F2-A4072818F812}"/>
              </a:ext>
            </a:extLst>
          </p:cNvPr>
          <p:cNvSpPr txBox="1"/>
          <p:nvPr/>
        </p:nvSpPr>
        <p:spPr>
          <a:xfrm>
            <a:off x="2717800" y="84328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졸업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B005F39B-34A3-3396-CCED-FF65965EE912}"/>
              </a:ext>
            </a:extLst>
          </p:cNvPr>
          <p:cNvSpPr txBox="1"/>
          <p:nvPr/>
        </p:nvSpPr>
        <p:spPr>
          <a:xfrm>
            <a:off x="1308100" y="35941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BFE3BC8-C211-0B0E-B75A-C270F840BE54}"/>
              </a:ext>
            </a:extLst>
          </p:cNvPr>
          <p:cNvSpPr txBox="1"/>
          <p:nvPr/>
        </p:nvSpPr>
        <p:spPr>
          <a:xfrm>
            <a:off x="1308100" y="48133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625E79A0-2DA2-D5BE-898A-9669F2A5ACEA}"/>
              </a:ext>
            </a:extLst>
          </p:cNvPr>
          <p:cNvSpPr txBox="1"/>
          <p:nvPr/>
        </p:nvSpPr>
        <p:spPr>
          <a:xfrm>
            <a:off x="1308100" y="60198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486F65D-0D26-563E-0A2A-39E433D92EF2}"/>
              </a:ext>
            </a:extLst>
          </p:cNvPr>
          <p:cNvSpPr txBox="1"/>
          <p:nvPr/>
        </p:nvSpPr>
        <p:spPr>
          <a:xfrm>
            <a:off x="1308100" y="7239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31C77593-B2F2-D0FB-CCA6-882A85C94C3C}"/>
              </a:ext>
            </a:extLst>
          </p:cNvPr>
          <p:cNvSpPr txBox="1"/>
          <p:nvPr/>
        </p:nvSpPr>
        <p:spPr>
          <a:xfrm>
            <a:off x="1308100" y="84582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C1F2D58A-AF0D-9EE0-8473-61756F1723D4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presentation_process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767EC934-A366-7B0A-D66B-8C6CEC4189B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410" y="1422400"/>
            <a:ext cx="17119790" cy="827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63E22-9741-F5BA-C386-68100087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775936-A43A-B674-987D-D4145E147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E7FAFA6-1FAD-9EFB-4AC4-1061BCCB4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2781300"/>
            <a:ext cx="1130300" cy="207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D552A24-B355-8E4D-F681-7B457312E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4000500"/>
            <a:ext cx="1130300" cy="2070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5EDF50E-7ABB-BBED-B537-AE2A838AD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5207000"/>
            <a:ext cx="1130300" cy="207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4A5DA238-592F-EFDF-9FAF-EE3E112A2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6426200"/>
            <a:ext cx="1130300" cy="2070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EE13BBC-AA1F-F365-FEF4-AB6696C4D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7645400"/>
            <a:ext cx="1130300" cy="2070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B1FBA8A-48AD-ED11-AF3F-7DA2B525D7E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-266700" y="6172200"/>
            <a:ext cx="3949700" cy="101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82774AC4-0C83-2FF0-A67F-1B847C76A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3251200"/>
            <a:ext cx="12573000" cy="11303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E6CB5AA8-7A34-9C60-72E3-9AEB69FF1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4470400"/>
            <a:ext cx="12573000" cy="11303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A05107B3-72CD-F75E-CE18-2534343FF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5689600"/>
            <a:ext cx="12573000" cy="1130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49DA6AA8-8A4E-F8BB-8C48-F0AB98A33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6908800"/>
            <a:ext cx="12573000" cy="1130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0B305737-67F2-DF33-F79E-69394BF45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8115300"/>
            <a:ext cx="12573000" cy="11303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BAD692FC-0A7B-D5B0-2649-9647385D4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353EAFCF-498D-80DB-D7E0-1E6DF5E487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AE42FB94-44DD-DE8E-902A-C083989F9E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8A3AC2E1-56FB-6852-AC58-727D349588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6D8AC28B-B46A-E808-7B91-DFDF6BBFF9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F9BF7F3F-2160-192A-0B9E-D5FB973B2D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DB69F9E8-A0D5-C64D-0DAD-F701F11036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800" y="3429000"/>
            <a:ext cx="762000" cy="762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DE3D2906-1D4C-6075-7A8A-7459E7C82B1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" y="4648200"/>
            <a:ext cx="762000" cy="7620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D1E83676-2302-6B4B-EF21-5AACD37029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0800" y="5867400"/>
            <a:ext cx="762000" cy="7620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7DF6D32B-1D28-DFE6-9974-739006BBDC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0800" y="7086600"/>
            <a:ext cx="762000" cy="7620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B3818427-3E48-B298-78FD-DEC08C77A1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0800" y="8305800"/>
            <a:ext cx="762000" cy="7620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971C4246-6340-B497-0DB9-BBC38C3F1C1D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 개요 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F8BED14-51DD-DAE0-D9A5-137AA401F12D}"/>
              </a:ext>
            </a:extLst>
          </p:cNvPr>
          <p:cNvSpPr txBox="1"/>
          <p:nvPr/>
        </p:nvSpPr>
        <p:spPr>
          <a:xfrm>
            <a:off x="5499100" y="36449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박사과정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A0D1A87-B8E9-B81F-2B66-04927FAF06FC}"/>
              </a:ext>
            </a:extLst>
          </p:cNvPr>
          <p:cNvSpPr txBox="1"/>
          <p:nvPr/>
        </p:nvSpPr>
        <p:spPr>
          <a:xfrm>
            <a:off x="2717800" y="35687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>
                <a:solidFill>
                  <a:srgbClr val="FFFFFF"/>
                </a:solidFill>
                <a:ea typeface="Pretendard Bold"/>
              </a:rPr>
              <a:t>1</a:t>
            </a:r>
            <a:r>
              <a:rPr lang="ko-KR" altLang="en-US" sz="2600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5E5700C-33EA-BD97-F31A-4A63D2F7BE0A}"/>
              </a:ext>
            </a:extLst>
          </p:cNvPr>
          <p:cNvSpPr txBox="1"/>
          <p:nvPr/>
        </p:nvSpPr>
        <p:spPr>
          <a:xfrm>
            <a:off x="5499100" y="48514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석사과정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9FCE0C9-5A2D-6AB6-65D3-F1F4B4829AA3}"/>
              </a:ext>
            </a:extLst>
          </p:cNvPr>
          <p:cNvSpPr txBox="1"/>
          <p:nvPr/>
        </p:nvSpPr>
        <p:spPr>
          <a:xfrm>
            <a:off x="2717800" y="47879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2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5CB84CE-9BBA-088E-3B0C-DA08E422BDA2}"/>
              </a:ext>
            </a:extLst>
          </p:cNvPr>
          <p:cNvSpPr txBox="1"/>
          <p:nvPr/>
        </p:nvSpPr>
        <p:spPr>
          <a:xfrm>
            <a:off x="5499100" y="60452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예비발표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 웹 신청</a:t>
            </a:r>
            <a:b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</a:b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예비발표의 경우 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4/10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월에 진행되는데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방학 중의 세미나에서 예비발표를 할 수도 있음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DBF5BFDD-A165-2BAE-C50D-991621533C2B}"/>
              </a:ext>
            </a:extLst>
          </p:cNvPr>
          <p:cNvSpPr txBox="1"/>
          <p:nvPr/>
        </p:nvSpPr>
        <p:spPr>
          <a:xfrm>
            <a:off x="2717800" y="60071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3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F47B0E2-E417-2D4F-981A-0C6D947797E1}"/>
              </a:ext>
            </a:extLst>
          </p:cNvPr>
          <p:cNvSpPr txBox="1"/>
          <p:nvPr/>
        </p:nvSpPr>
        <p:spPr>
          <a:xfrm>
            <a:off x="5499100" y="72898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 논문제출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본발표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논문심사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730C30BE-1AF9-944D-01A2-5A703CD9A5E5}"/>
              </a:ext>
            </a:extLst>
          </p:cNvPr>
          <p:cNvSpPr txBox="1"/>
          <p:nvPr/>
        </p:nvSpPr>
        <p:spPr>
          <a:xfrm>
            <a:off x="2717800" y="72136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4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A8BCB7E-9ED7-6160-B5AA-15F24986A8EF}"/>
              </a:ext>
            </a:extLst>
          </p:cNvPr>
          <p:cNvSpPr txBox="1"/>
          <p:nvPr/>
        </p:nvSpPr>
        <p:spPr>
          <a:xfrm>
            <a:off x="5499100" y="85090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축하합니다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 </a:t>
            </a: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당신은 졸업했습니다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930758DC-3C19-9E22-99CB-FE640D893318}"/>
              </a:ext>
            </a:extLst>
          </p:cNvPr>
          <p:cNvSpPr txBox="1"/>
          <p:nvPr/>
        </p:nvSpPr>
        <p:spPr>
          <a:xfrm>
            <a:off x="2717800" y="84328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졸업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E993597-808F-2B18-B769-E236D8126392}"/>
              </a:ext>
            </a:extLst>
          </p:cNvPr>
          <p:cNvSpPr txBox="1"/>
          <p:nvPr/>
        </p:nvSpPr>
        <p:spPr>
          <a:xfrm>
            <a:off x="1308100" y="35941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93A8B667-5DA3-E571-E2E4-7B8FA59C8C7F}"/>
              </a:ext>
            </a:extLst>
          </p:cNvPr>
          <p:cNvSpPr txBox="1"/>
          <p:nvPr/>
        </p:nvSpPr>
        <p:spPr>
          <a:xfrm>
            <a:off x="1308100" y="48133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1F5AFF6-65D7-2DDC-A54A-8AC1C31B553E}"/>
              </a:ext>
            </a:extLst>
          </p:cNvPr>
          <p:cNvSpPr txBox="1"/>
          <p:nvPr/>
        </p:nvSpPr>
        <p:spPr>
          <a:xfrm>
            <a:off x="1308100" y="60198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7425531D-04AC-6475-77AF-6A598100FED2}"/>
              </a:ext>
            </a:extLst>
          </p:cNvPr>
          <p:cNvSpPr txBox="1"/>
          <p:nvPr/>
        </p:nvSpPr>
        <p:spPr>
          <a:xfrm>
            <a:off x="1308100" y="7239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16742537-980C-AF4E-EC87-F912CFEF12BE}"/>
              </a:ext>
            </a:extLst>
          </p:cNvPr>
          <p:cNvSpPr txBox="1"/>
          <p:nvPr/>
        </p:nvSpPr>
        <p:spPr>
          <a:xfrm>
            <a:off x="1308100" y="84582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073015A5-CC1E-CEEF-5F96-A773C88D8E16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presentation_process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3BAAA42-1FC1-9178-8FEF-D8F2FC613F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8433" y="1638490"/>
            <a:ext cx="18281026" cy="826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48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A9DE4-82E4-1E31-E6A8-42D9AE11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7436B8E-435F-7DC7-892D-9975D8EDF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4D0E808-E897-C2DA-B26E-C0A62B4CD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463CE4D-D491-11D1-2584-38A75E0B3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93F6AB2-701B-68B5-DADF-79C83E3FB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754B9D8-6CBC-493F-0D21-6A56CEBB1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DF5D9FA-8355-822C-67A3-E0A7BE6B99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E3BE94E-A999-ACF8-F8FF-A3022E657C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1C4A622-2C2C-C569-0D8C-1AB279EA52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E4DC9272-B55B-30CC-743C-52978DEEEA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57D329FE-8488-B915-AB70-A20B50D79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411D4128-28EF-F20C-D134-F52E14C8AB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C00D93A4-6196-8696-4C12-869B6ABD89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D411E94-B9A4-4B42-5CEB-42D54DEF26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26FA3115-EE48-7D64-56E2-08DF220D8201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presentation_title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DA42D9D-5F40-56CF-32F5-2864133CD0D0}"/>
              </a:ext>
            </a:extLst>
          </p:cNvPr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01-3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4E54005-8531-CFA0-D714-B706340831CA}"/>
              </a:ext>
            </a:extLst>
          </p:cNvPr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 b="0" i="0" u="none" strike="noStrike">
                <a:solidFill>
                  <a:srgbClr val="000000"/>
                </a:solidFill>
                <a:ea typeface="Pretendard Bold"/>
              </a:rPr>
              <a:t>버그 대처하기</a:t>
            </a:r>
            <a:endParaRPr lang="en-US" sz="90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C3F5BD5-E3FD-4434-70DC-F6C9DEB57E52}"/>
              </a:ext>
            </a:extLst>
          </p:cNvPr>
          <p:cNvSpPr txBox="1"/>
          <p:nvPr/>
        </p:nvSpPr>
        <p:spPr>
          <a:xfrm>
            <a:off x="1320800" y="8013700"/>
            <a:ext cx="84328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2800" b="0" i="0" u="none" strike="noStrike">
                <a:solidFill>
                  <a:srgbClr val="C2C2C2"/>
                </a:solidFill>
                <a:latin typeface="Pretendard Bold" panose="020B0600000101010101" charset="-127"/>
                <a:ea typeface="Pretendard Bold" panose="020B0600000101010101" charset="-127"/>
              </a:rPr>
              <a:t>고장났을 때는</a:t>
            </a:r>
            <a:r>
              <a:rPr lang="en-US" altLang="ko-KR" sz="2800" b="0" i="0" u="none" strike="noStrike">
                <a:solidFill>
                  <a:srgbClr val="C2C2C2"/>
                </a:solidFill>
                <a:latin typeface="Pretendard Bold" panose="020B0600000101010101" charset="-127"/>
                <a:ea typeface="Pretendard Bold" panose="020B0600000101010101" charset="-127"/>
              </a:rPr>
              <a:t>? </a:t>
            </a:r>
            <a:r>
              <a:rPr lang="ko-KR" altLang="en-US" sz="2800" b="0" i="0" u="none" strike="noStrike">
                <a:solidFill>
                  <a:srgbClr val="C2C2C2"/>
                </a:solidFill>
                <a:latin typeface="Pretendard Bold" panose="020B0600000101010101" charset="-127"/>
                <a:ea typeface="Pretendard Bold" panose="020B0600000101010101" charset="-127"/>
              </a:rPr>
              <a:t>증상부터 나누자</a:t>
            </a:r>
            <a:endParaRPr lang="en-US" sz="2800" b="0" i="0" u="none" strike="noStrike">
              <a:solidFill>
                <a:srgbClr val="C2C2C2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720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EFEB-4798-0A82-FCC0-F9410E0A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EA24E4-6C8E-201E-01C2-848A734FF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A67F5785-9E70-52A0-78C4-03E7D4D0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2781300"/>
            <a:ext cx="1130300" cy="207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0487D42-178A-D286-8381-AD399A536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4000500"/>
            <a:ext cx="1130300" cy="2070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0B2102E-7B1A-EAA8-D542-B63E2A71F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5207000"/>
            <a:ext cx="1130300" cy="207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EA0E83B2-8668-60C0-A5B8-FFE4B38F5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6426200"/>
            <a:ext cx="1130300" cy="2070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0C2C205-44E3-23B1-270D-DF1FDC57B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7645400"/>
            <a:ext cx="1130300" cy="2070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8FFFA5F-E726-48D9-FFC2-F245B405987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5400000">
            <a:off x="-266700" y="6172200"/>
            <a:ext cx="3949700" cy="101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AA2B63A-DDBD-D55D-EAE9-6723FD894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3251200"/>
            <a:ext cx="12573000" cy="11303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6B822837-5ADC-B4ED-376F-1E2C4A576B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4470400"/>
            <a:ext cx="12573000" cy="11303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0BE989C2-1302-2255-E0A7-F36A69318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5689600"/>
            <a:ext cx="12573000" cy="1130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B487C97-51F3-0969-AF16-7CEAD381D8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6908800"/>
            <a:ext cx="12573000" cy="1130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AD16365D-B45D-A72C-D0BB-4ECD56092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8115300"/>
            <a:ext cx="12573000" cy="11303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E19AE81-C725-9245-8FB3-5A1F7F76F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6976D411-3958-0B08-343A-374FB29A2D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7CB74ED7-3057-0688-D806-91091E7552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005701A8-06DC-CAFB-4B70-7487102AFC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26EADB34-439E-122A-39D2-49F079586D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4CFFE675-C352-C1F2-C689-6D0DAD38AD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3BA48323-7746-CBC4-B988-C58ED5E306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800" y="3429000"/>
            <a:ext cx="762000" cy="762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90917F09-D919-EC3F-E1A0-15BA35A4C3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800" y="4648200"/>
            <a:ext cx="762000" cy="7620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E56D3786-6E92-429D-3C5E-717D0BD2EB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" y="5867400"/>
            <a:ext cx="762000" cy="7620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8EAB9B57-F027-F713-5A44-C6DCAAB0004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0800" y="7086600"/>
            <a:ext cx="762000" cy="7620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3E718455-80FC-EE9D-9BCF-36E2811B16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0800" y="8305800"/>
            <a:ext cx="762000" cy="7620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AD533002-246F-A0FB-A477-B6CF8102E55D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 개요 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41AC0D9-D205-3704-A4C4-22B432692DA5}"/>
              </a:ext>
            </a:extLst>
          </p:cNvPr>
          <p:cNvSpPr txBox="1"/>
          <p:nvPr/>
        </p:nvSpPr>
        <p:spPr>
          <a:xfrm>
            <a:off x="5499100" y="36449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박사과정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660B03F-B4A8-1880-D7F8-3D5C4C98B5C6}"/>
              </a:ext>
            </a:extLst>
          </p:cNvPr>
          <p:cNvSpPr txBox="1"/>
          <p:nvPr/>
        </p:nvSpPr>
        <p:spPr>
          <a:xfrm>
            <a:off x="2717800" y="35687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>
                <a:solidFill>
                  <a:srgbClr val="FFFFFF"/>
                </a:solidFill>
                <a:ea typeface="Pretendard Bold"/>
              </a:rPr>
              <a:t>1</a:t>
            </a:r>
            <a:r>
              <a:rPr lang="ko-KR" altLang="en-US" sz="2600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21F0217-1FD9-0338-DA1D-49822BA5E573}"/>
              </a:ext>
            </a:extLst>
          </p:cNvPr>
          <p:cNvSpPr txBox="1"/>
          <p:nvPr/>
        </p:nvSpPr>
        <p:spPr>
          <a:xfrm>
            <a:off x="5499100" y="48514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석사과정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DDF643E-7FB0-5108-7C92-99E4E24FFD6B}"/>
              </a:ext>
            </a:extLst>
          </p:cNvPr>
          <p:cNvSpPr txBox="1"/>
          <p:nvPr/>
        </p:nvSpPr>
        <p:spPr>
          <a:xfrm>
            <a:off x="2717800" y="47879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2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91E6BAE-5995-EB03-75DD-DC9F06CF0FDA}"/>
              </a:ext>
            </a:extLst>
          </p:cNvPr>
          <p:cNvSpPr txBox="1"/>
          <p:nvPr/>
        </p:nvSpPr>
        <p:spPr>
          <a:xfrm>
            <a:off x="5499100" y="60452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예비발표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 웹 신청</a:t>
            </a:r>
            <a:b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</a:b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예비발표의 경우 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4/10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월에 진행되는데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방학 중의 세미나에서 예비발표를 할 수도 있음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47B5EDFB-E453-EB68-238F-8EB6BFA6F416}"/>
              </a:ext>
            </a:extLst>
          </p:cNvPr>
          <p:cNvSpPr txBox="1"/>
          <p:nvPr/>
        </p:nvSpPr>
        <p:spPr>
          <a:xfrm>
            <a:off x="2717800" y="60071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3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09F82ED-8203-AD3C-5ABB-D1AB0D190925}"/>
              </a:ext>
            </a:extLst>
          </p:cNvPr>
          <p:cNvSpPr txBox="1"/>
          <p:nvPr/>
        </p:nvSpPr>
        <p:spPr>
          <a:xfrm>
            <a:off x="5499100" y="72898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 논문제출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본발표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논문심사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61F8A0B-6AE2-9D02-9B3A-2A540958DD93}"/>
              </a:ext>
            </a:extLst>
          </p:cNvPr>
          <p:cNvSpPr txBox="1"/>
          <p:nvPr/>
        </p:nvSpPr>
        <p:spPr>
          <a:xfrm>
            <a:off x="2717800" y="72136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4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CE2114F-0323-C1BB-2C58-6384A2F0F115}"/>
              </a:ext>
            </a:extLst>
          </p:cNvPr>
          <p:cNvSpPr txBox="1"/>
          <p:nvPr/>
        </p:nvSpPr>
        <p:spPr>
          <a:xfrm>
            <a:off x="5499100" y="85090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축하합니다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 </a:t>
            </a: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당신은 졸업했습니다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A71F3F7E-FB2F-E0B4-3355-9E3EDD63F403}"/>
              </a:ext>
            </a:extLst>
          </p:cNvPr>
          <p:cNvSpPr txBox="1"/>
          <p:nvPr/>
        </p:nvSpPr>
        <p:spPr>
          <a:xfrm>
            <a:off x="2717800" y="84328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졸업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17608958-9181-62E5-8AD2-3EA6FD0DD295}"/>
              </a:ext>
            </a:extLst>
          </p:cNvPr>
          <p:cNvSpPr txBox="1"/>
          <p:nvPr/>
        </p:nvSpPr>
        <p:spPr>
          <a:xfrm>
            <a:off x="1308100" y="35941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204D929-A758-57C5-D1C5-692AC372B90C}"/>
              </a:ext>
            </a:extLst>
          </p:cNvPr>
          <p:cNvSpPr txBox="1"/>
          <p:nvPr/>
        </p:nvSpPr>
        <p:spPr>
          <a:xfrm>
            <a:off x="1308100" y="48133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F5BE643F-D635-29F6-843B-29291AA6BC04}"/>
              </a:ext>
            </a:extLst>
          </p:cNvPr>
          <p:cNvSpPr txBox="1"/>
          <p:nvPr/>
        </p:nvSpPr>
        <p:spPr>
          <a:xfrm>
            <a:off x="1308100" y="60198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B2A6F8EF-084F-C2DD-7043-15D985C74D42}"/>
              </a:ext>
            </a:extLst>
          </p:cNvPr>
          <p:cNvSpPr txBox="1"/>
          <p:nvPr/>
        </p:nvSpPr>
        <p:spPr>
          <a:xfrm>
            <a:off x="1308100" y="7239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3AC4125E-FB08-C96C-E76C-FF152C0C5E8D}"/>
              </a:ext>
            </a:extLst>
          </p:cNvPr>
          <p:cNvSpPr txBox="1"/>
          <p:nvPr/>
        </p:nvSpPr>
        <p:spPr>
          <a:xfrm>
            <a:off x="1308100" y="84582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90F2699-5DDF-1B74-660E-662C353B6B1F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presentation_process</a:t>
            </a:r>
          </a:p>
        </p:txBody>
      </p:sp>
      <p:sp>
        <p:nvSpPr>
          <p:cNvPr id="48" name="원형: 비어 있음 47">
            <a:extLst>
              <a:ext uri="{FF2B5EF4-FFF2-40B4-BE49-F238E27FC236}">
                <a16:creationId xmlns:a16="http://schemas.microsoft.com/office/drawing/2014/main" id="{AF7C38B8-98BC-0F93-7E7B-7A14CE619754}"/>
              </a:ext>
            </a:extLst>
          </p:cNvPr>
          <p:cNvSpPr/>
          <p:nvPr/>
        </p:nvSpPr>
        <p:spPr>
          <a:xfrm>
            <a:off x="5334000" y="3904587"/>
            <a:ext cx="2438400" cy="2051713"/>
          </a:xfrm>
          <a:prstGeom prst="don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F0D506E9-76F3-49EC-2F13-E6A4170C89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5961" y="1042414"/>
            <a:ext cx="17576078" cy="885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0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A7697-E125-808D-2294-DF5E92876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EDEAE32-7406-D2D1-D9E4-E8287C89D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29C06E3-2D8C-F594-9550-45811FCD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2781300"/>
            <a:ext cx="1130300" cy="207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272F96F-D80E-8BAE-247B-94C1DCC84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4000500"/>
            <a:ext cx="1130300" cy="2070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657DD34-18A6-EE0E-7130-C4FBE74CE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5207000"/>
            <a:ext cx="1130300" cy="207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51F4517-6660-3E3E-7614-4D290C8A7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6426200"/>
            <a:ext cx="1130300" cy="2070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65271F8A-C165-E6EB-A137-E45C6C59A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946400" y="7645400"/>
            <a:ext cx="1130300" cy="2070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A037CAF-EFC5-B128-8A4D-66998C1C0D8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-266700" y="6172200"/>
            <a:ext cx="3949700" cy="101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F54746EB-4B8C-F2DB-E5B4-627379660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3251200"/>
            <a:ext cx="12573000" cy="11303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CFB6B37-BF19-C335-B7B2-048C990B7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4470400"/>
            <a:ext cx="12573000" cy="11303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667B44E-59A1-4604-059F-D44765571B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5689600"/>
            <a:ext cx="12573000" cy="1130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08CE653-B332-DAFF-4F50-7F6C16247A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6908800"/>
            <a:ext cx="12573000" cy="1130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17F16442-7D77-86AE-8849-45504011CA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8115300"/>
            <a:ext cx="12573000" cy="11303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7DFF266-30FF-43CC-AF06-B799CB25E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6E38CDCA-00C2-48DD-869B-FA9F6F250A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D3BD76F4-2C0E-89EC-B6A5-0FE732B748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B4149E10-D2E3-240E-8D23-945D78C514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1BFAB7E9-C219-9261-6949-5B8A6BC148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03A4308C-4A51-15D4-E045-C380D89F67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15CC15E-9215-ED42-1AD4-44D3B7AFF6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800" y="3429000"/>
            <a:ext cx="762000" cy="762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59025251-36D0-DFD2-064E-599D27B7A41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" y="4648200"/>
            <a:ext cx="762000" cy="7620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D0606C9A-A783-AC21-D060-6A6DD9CB1E9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0800" y="5867400"/>
            <a:ext cx="762000" cy="7620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31F0F56D-BFFA-17DC-BFC0-445FE8E7EF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0800" y="7086600"/>
            <a:ext cx="762000" cy="7620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3A9FEC9A-7C77-5E13-394E-4DC121C606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0800" y="8305800"/>
            <a:ext cx="762000" cy="7620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AB557804-13A7-2D11-42EC-A916A940F2B7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 개요 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C210D86-6DC5-02AD-28B5-4459AF852128}"/>
              </a:ext>
            </a:extLst>
          </p:cNvPr>
          <p:cNvSpPr txBox="1"/>
          <p:nvPr/>
        </p:nvSpPr>
        <p:spPr>
          <a:xfrm>
            <a:off x="5499100" y="36449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박사과정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F729F3C-4F7A-C42A-BAD4-81CE22435368}"/>
              </a:ext>
            </a:extLst>
          </p:cNvPr>
          <p:cNvSpPr txBox="1"/>
          <p:nvPr/>
        </p:nvSpPr>
        <p:spPr>
          <a:xfrm>
            <a:off x="2717800" y="35687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>
                <a:solidFill>
                  <a:srgbClr val="FFFFFF"/>
                </a:solidFill>
                <a:ea typeface="Pretendard Bold"/>
              </a:rPr>
              <a:t>1</a:t>
            </a:r>
            <a:r>
              <a:rPr lang="ko-KR" altLang="en-US" sz="2600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6C5BBC4-7319-3646-AA8A-B566B64A030A}"/>
              </a:ext>
            </a:extLst>
          </p:cNvPr>
          <p:cNvSpPr txBox="1"/>
          <p:nvPr/>
        </p:nvSpPr>
        <p:spPr>
          <a:xfrm>
            <a:off x="5499100" y="48514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석사과정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6132D78-F160-5956-2754-C756A1741D5F}"/>
              </a:ext>
            </a:extLst>
          </p:cNvPr>
          <p:cNvSpPr txBox="1"/>
          <p:nvPr/>
        </p:nvSpPr>
        <p:spPr>
          <a:xfrm>
            <a:off x="2717800" y="47879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2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E2B4314F-B423-A42A-8957-7DE4CE0CABD2}"/>
              </a:ext>
            </a:extLst>
          </p:cNvPr>
          <p:cNvSpPr txBox="1"/>
          <p:nvPr/>
        </p:nvSpPr>
        <p:spPr>
          <a:xfrm>
            <a:off x="5499100" y="60452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예비발표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 웹 신청</a:t>
            </a:r>
            <a:b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</a:b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예비발표의 경우 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4/10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월에 진행되는데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방학 중의 세미나에서 예비발표를 할 수도 있음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83F6B64-83E8-C9EE-2C13-77329BAF36EE}"/>
              </a:ext>
            </a:extLst>
          </p:cNvPr>
          <p:cNvSpPr txBox="1"/>
          <p:nvPr/>
        </p:nvSpPr>
        <p:spPr>
          <a:xfrm>
            <a:off x="2717800" y="60071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3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818C7F1-4316-7D97-5518-B6E1400FC3D9}"/>
              </a:ext>
            </a:extLst>
          </p:cNvPr>
          <p:cNvSpPr txBox="1"/>
          <p:nvPr/>
        </p:nvSpPr>
        <p:spPr>
          <a:xfrm>
            <a:off x="5499100" y="72898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 논문제출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본발표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논문심사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FE5FCA8C-45B8-C3A3-1432-75490CB3DCB7}"/>
              </a:ext>
            </a:extLst>
          </p:cNvPr>
          <p:cNvSpPr txBox="1"/>
          <p:nvPr/>
        </p:nvSpPr>
        <p:spPr>
          <a:xfrm>
            <a:off x="2717800" y="72136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4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5B402F3-7B5E-AD36-E7CA-434BF3CD3E8C}"/>
              </a:ext>
            </a:extLst>
          </p:cNvPr>
          <p:cNvSpPr txBox="1"/>
          <p:nvPr/>
        </p:nvSpPr>
        <p:spPr>
          <a:xfrm>
            <a:off x="5499100" y="85090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축하합니다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 </a:t>
            </a: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당신은 졸업했습니다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C7144FE-778B-9CAE-1E03-ECC72D1076D5}"/>
              </a:ext>
            </a:extLst>
          </p:cNvPr>
          <p:cNvSpPr txBox="1"/>
          <p:nvPr/>
        </p:nvSpPr>
        <p:spPr>
          <a:xfrm>
            <a:off x="2717800" y="84328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졸업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8D9E2E56-9231-223F-06C0-6008C7DD5527}"/>
              </a:ext>
            </a:extLst>
          </p:cNvPr>
          <p:cNvSpPr txBox="1"/>
          <p:nvPr/>
        </p:nvSpPr>
        <p:spPr>
          <a:xfrm>
            <a:off x="1308100" y="35941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4769EF0-4F4D-4FE9-767A-E481ADD4DA2E}"/>
              </a:ext>
            </a:extLst>
          </p:cNvPr>
          <p:cNvSpPr txBox="1"/>
          <p:nvPr/>
        </p:nvSpPr>
        <p:spPr>
          <a:xfrm>
            <a:off x="1308100" y="48133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89373F8-1820-EF7B-DCE9-C620DEE1E456}"/>
              </a:ext>
            </a:extLst>
          </p:cNvPr>
          <p:cNvSpPr txBox="1"/>
          <p:nvPr/>
        </p:nvSpPr>
        <p:spPr>
          <a:xfrm>
            <a:off x="1308100" y="60198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61592F9-75A5-C645-89CB-522722FEA8C2}"/>
              </a:ext>
            </a:extLst>
          </p:cNvPr>
          <p:cNvSpPr txBox="1"/>
          <p:nvPr/>
        </p:nvSpPr>
        <p:spPr>
          <a:xfrm>
            <a:off x="1308100" y="7239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C6E2793-3D0E-23D0-B91C-BAD99E164271}"/>
              </a:ext>
            </a:extLst>
          </p:cNvPr>
          <p:cNvSpPr txBox="1"/>
          <p:nvPr/>
        </p:nvSpPr>
        <p:spPr>
          <a:xfrm>
            <a:off x="1308100" y="84582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30C08FA7-FDC7-CE9D-C664-5555A9CC4BB1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presentation_process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C8A945F0-B78C-5808-3649-15214C43628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28433" y="1638490"/>
            <a:ext cx="18281026" cy="8268854"/>
          </a:xfrm>
          <a:prstGeom prst="rect">
            <a:avLst/>
          </a:prstGeom>
        </p:spPr>
      </p:pic>
      <p:sp>
        <p:nvSpPr>
          <p:cNvPr id="45" name="원형: 비어 있음 44">
            <a:extLst>
              <a:ext uri="{FF2B5EF4-FFF2-40B4-BE49-F238E27FC236}">
                <a16:creationId xmlns:a16="http://schemas.microsoft.com/office/drawing/2014/main" id="{4722A2EF-0246-55C6-075E-1BC50D46CBA1}"/>
              </a:ext>
            </a:extLst>
          </p:cNvPr>
          <p:cNvSpPr/>
          <p:nvPr/>
        </p:nvSpPr>
        <p:spPr>
          <a:xfrm>
            <a:off x="10073469" y="4952621"/>
            <a:ext cx="4775200" cy="3276600"/>
          </a:xfrm>
          <a:prstGeom prst="don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325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8F010-74E0-C7C1-50F7-93D3282FD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1E90830-A36F-CDEA-F0A7-79E1A325B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9F68E59-7D0C-F855-BAEB-8246B0A37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EEE798E-37E6-D47A-00EA-71028887D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5AB4031-55ED-F6BC-4528-126F39A85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65AD28C0-841C-084C-8F21-7F2E6CE241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26CBA62-7CC9-4E27-B764-A175EAF8C9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586DBA3A-5218-A095-77D7-81DBB548EA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1E1035E9-ECCD-CCBF-E792-B6DC8319F8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D03E057A-58EC-A7F6-EE63-37ABB9213A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6A34410-8496-0433-6B2C-BA09686298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FBC0DEEB-EB44-6449-E114-172E166D68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EDEBBE3E-5AAF-633D-69CA-EA50ABAED3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76F50E96-2CB6-B1D6-5DEB-CFAC1B628B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67EA0DA-19A7-4701-252A-4A49A9FD77AE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presentation_title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6EA484C-8733-5E4A-46BF-12CEB02BC5E3}"/>
              </a:ext>
            </a:extLst>
          </p:cNvPr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01-3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FBDC1CA-0392-A89B-6311-1AE8AB93FA95}"/>
              </a:ext>
            </a:extLst>
          </p:cNvPr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000" b="0" i="0" u="none" strike="noStrike">
                <a:solidFill>
                  <a:srgbClr val="000000"/>
                </a:solidFill>
                <a:ea typeface="Pretendard Bold"/>
              </a:rPr>
              <a:t>모르겠으면 </a:t>
            </a:r>
            <a:r>
              <a:rPr lang="en-US" altLang="ko-KR" sz="9000" b="0" i="0" u="none" strike="noStrike">
                <a:solidFill>
                  <a:srgbClr val="000000"/>
                </a:solidFill>
                <a:ea typeface="Pretendard Bold"/>
              </a:rPr>
              <a:t>F12</a:t>
            </a:r>
            <a:r>
              <a:rPr lang="ko-KR" altLang="en-US" sz="9000" b="0" i="0" u="none" strike="noStrike">
                <a:solidFill>
                  <a:srgbClr val="000000"/>
                </a:solidFill>
                <a:ea typeface="Pretendard Bold"/>
              </a:rPr>
              <a:t>부터 눌러</a:t>
            </a:r>
            <a:endParaRPr lang="en-US" altLang="ko-KR" sz="9000" b="0" i="0" u="none" strike="noStrike">
              <a:solidFill>
                <a:srgbClr val="000000"/>
              </a:solidFill>
              <a:ea typeface="Pretendard Bold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9000">
                <a:solidFill>
                  <a:srgbClr val="000000"/>
                </a:solidFill>
                <a:latin typeface="Pretendard Bold"/>
                <a:ea typeface="Pretendard Bold"/>
              </a:rPr>
              <a:t>콘솔을 그대로 전달하자</a:t>
            </a:r>
            <a:r>
              <a:rPr lang="en-US" altLang="ko-KR" sz="9000">
                <a:solidFill>
                  <a:srgbClr val="000000"/>
                </a:solidFill>
                <a:latin typeface="Pretendard Bold"/>
                <a:ea typeface="Pretendard Bold"/>
              </a:rPr>
              <a:t>!</a:t>
            </a:r>
            <a:endParaRPr lang="en-US" sz="90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D2A2CED-3458-87A0-9F97-663519EDCA88}"/>
              </a:ext>
            </a:extLst>
          </p:cNvPr>
          <p:cNvSpPr txBox="1"/>
          <p:nvPr/>
        </p:nvSpPr>
        <p:spPr>
          <a:xfrm>
            <a:off x="1320800" y="8013700"/>
            <a:ext cx="84328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en-US" sz="2800" b="0" i="0" u="none" strike="noStrike">
              <a:solidFill>
                <a:srgbClr val="C2C2C2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432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7DE2-A6F3-C846-752B-AF6BB1B9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D5955D8-F128-49B8-9FC7-3D0556321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5C856115-B079-28E5-93DA-C4BDF7B8A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2781300"/>
            <a:ext cx="1130300" cy="2070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EB3AB75-CFCE-2D0D-A006-0899BD904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4000500"/>
            <a:ext cx="1130300" cy="2070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FCABA73-AE34-EEE3-2F0B-28BC001F4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5207000"/>
            <a:ext cx="1130300" cy="20701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C1A8D1CC-3C34-3445-B7B7-61F81AFF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6426200"/>
            <a:ext cx="1130300" cy="20701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EA1A20A7-6B7B-AD3A-A954-C74AF2CA8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46400" y="7645400"/>
            <a:ext cx="1130300" cy="20701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AE5C848-72C0-C9C2-45C8-B2276D5E03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5400000">
            <a:off x="-266700" y="6172200"/>
            <a:ext cx="3949700" cy="101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10A411AE-84C1-2409-982A-08214EC24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3251200"/>
            <a:ext cx="12573000" cy="11303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9B10EA6-6EAF-A04E-B543-24DF5D2AC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4470400"/>
            <a:ext cx="12573000" cy="11303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8C8110F-BE1B-A715-2831-D8535523F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5689600"/>
            <a:ext cx="12573000" cy="1130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91E330EF-4F90-3D40-C318-93231126E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6908800"/>
            <a:ext cx="12573000" cy="11303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576DDF7A-C80D-D939-4961-4BF10A254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8115300"/>
            <a:ext cx="12573000" cy="11303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B4D32302-85AD-2B25-A954-9C881A1A2B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268256C8-196E-E2B5-CE91-87E7414D5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DB7B1D26-59F2-D8A5-D26A-714FE8ADBF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C7A54AED-4B9F-45BF-C727-56F910B46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1733FCB-B58A-949A-AA7F-1F7F581FDC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1FA9E69C-ED5B-69E0-DA7D-EFA9303D916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7A3C28DD-F5B2-046F-05AE-9AB8A9C885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0800" y="3429000"/>
            <a:ext cx="762000" cy="7620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59D1F430-D6AA-03C6-DE9B-476D282E80A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0800" y="4648200"/>
            <a:ext cx="762000" cy="762000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FA701A87-155E-EAF3-1601-1382983C2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" y="5867400"/>
            <a:ext cx="762000" cy="762000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CB51BDC4-E9FD-D66C-D92B-3AA80AA715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20800" y="7086600"/>
            <a:ext cx="762000" cy="762000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B669DCED-7348-C700-718D-97F3817EA5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0800" y="8305800"/>
            <a:ext cx="762000" cy="762000"/>
          </a:xfrm>
          <a:prstGeom prst="rect">
            <a:avLst/>
          </a:prstGeom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F514A3C2-9514-78EE-85EC-77723AF84DBE}"/>
              </a:ext>
            </a:extLst>
          </p:cNvPr>
          <p:cNvSpPr txBox="1"/>
          <p:nvPr/>
        </p:nvSpPr>
        <p:spPr>
          <a:xfrm>
            <a:off x="5334000" y="2108200"/>
            <a:ext cx="76200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100" b="0" i="0" u="none" strike="noStrike">
                <a:solidFill>
                  <a:srgbClr val="000000"/>
                </a:solidFill>
                <a:ea typeface="Pretendard Bold"/>
              </a:rPr>
              <a:t>강의 개요 </a:t>
            </a:r>
            <a:endParaRPr lang="ko-KR" sz="4100" b="0" i="0" u="none" strike="noStrike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FC9D3C0-AC52-FACB-576B-1ECBEF4668F9}"/>
              </a:ext>
            </a:extLst>
          </p:cNvPr>
          <p:cNvSpPr txBox="1"/>
          <p:nvPr/>
        </p:nvSpPr>
        <p:spPr>
          <a:xfrm>
            <a:off x="5499100" y="36449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박사과정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1152614-F3EB-F6F5-287C-B5F256AE8A98}"/>
              </a:ext>
            </a:extLst>
          </p:cNvPr>
          <p:cNvSpPr txBox="1"/>
          <p:nvPr/>
        </p:nvSpPr>
        <p:spPr>
          <a:xfrm>
            <a:off x="2717800" y="35687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>
                <a:solidFill>
                  <a:srgbClr val="FFFFFF"/>
                </a:solidFill>
                <a:ea typeface="Pretendard Bold"/>
              </a:rPr>
              <a:t>1</a:t>
            </a:r>
            <a:r>
              <a:rPr lang="ko-KR" altLang="en-US" sz="2600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2731568-59CE-3088-FBFF-9D967CFFB8B1}"/>
              </a:ext>
            </a:extLst>
          </p:cNvPr>
          <p:cNvSpPr txBox="1"/>
          <p:nvPr/>
        </p:nvSpPr>
        <p:spPr>
          <a:xfrm>
            <a:off x="5499100" y="48514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석사과정 지도교수 선정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BD9D566-49A8-B663-1070-9DDBF9BF8B4E}"/>
              </a:ext>
            </a:extLst>
          </p:cNvPr>
          <p:cNvSpPr txBox="1"/>
          <p:nvPr/>
        </p:nvSpPr>
        <p:spPr>
          <a:xfrm>
            <a:off x="2717800" y="47879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2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08587B88-B94C-2AE0-0B18-CA7057E20989}"/>
              </a:ext>
            </a:extLst>
          </p:cNvPr>
          <p:cNvSpPr txBox="1"/>
          <p:nvPr/>
        </p:nvSpPr>
        <p:spPr>
          <a:xfrm>
            <a:off x="5499100" y="60452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예비발표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 웹 신청</a:t>
            </a:r>
            <a:b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</a:b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예비발표의 경우 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4/10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월에 진행되는데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방학 중의 세미나에서 예비발표를 할 수도 있음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01337ED7-216D-3DEB-9812-77A3EC491C69}"/>
              </a:ext>
            </a:extLst>
          </p:cNvPr>
          <p:cNvSpPr txBox="1"/>
          <p:nvPr/>
        </p:nvSpPr>
        <p:spPr>
          <a:xfrm>
            <a:off x="2717800" y="60071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3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ED83A62F-F3BE-CD5A-809D-4346A7A6E03E}"/>
              </a:ext>
            </a:extLst>
          </p:cNvPr>
          <p:cNvSpPr txBox="1"/>
          <p:nvPr/>
        </p:nvSpPr>
        <p:spPr>
          <a:xfrm>
            <a:off x="5499100" y="72898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학위청구시험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 논문제출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학위청구논문 본발표</a:t>
            </a:r>
            <a:r>
              <a:rPr lang="en-US" altLang="ko-KR" sz="2100" b="0" i="0" u="none" strike="noStrike">
                <a:solidFill>
                  <a:srgbClr val="717377"/>
                </a:solidFill>
                <a:ea typeface="Pretendard Regular"/>
              </a:rPr>
              <a:t>, </a:t>
            </a:r>
            <a:r>
              <a:rPr lang="ko-KR" altLang="en-US" sz="2100" b="0" i="0" u="none" strike="noStrike">
                <a:solidFill>
                  <a:srgbClr val="717377"/>
                </a:solidFill>
                <a:ea typeface="Pretendard Regular"/>
              </a:rPr>
              <a:t>논문심사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D8F8C82-A042-B6EC-2317-05582432936F}"/>
              </a:ext>
            </a:extLst>
          </p:cNvPr>
          <p:cNvSpPr txBox="1"/>
          <p:nvPr/>
        </p:nvSpPr>
        <p:spPr>
          <a:xfrm>
            <a:off x="2717800" y="72136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600" b="0" i="0" u="none" strike="noStrike">
                <a:solidFill>
                  <a:srgbClr val="FFFFFF"/>
                </a:solidFill>
                <a:ea typeface="Pretendard Bold"/>
              </a:rPr>
              <a:t>4</a:t>
            </a: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학기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D1DB539-5EFC-1191-F321-E856E585F845}"/>
              </a:ext>
            </a:extLst>
          </p:cNvPr>
          <p:cNvSpPr txBox="1"/>
          <p:nvPr/>
        </p:nvSpPr>
        <p:spPr>
          <a:xfrm>
            <a:off x="5499100" y="8509000"/>
            <a:ext cx="114681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축하합니다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 </a:t>
            </a:r>
            <a:r>
              <a:rPr lang="ko-KR" altLang="en-US" sz="2100">
                <a:solidFill>
                  <a:srgbClr val="717377"/>
                </a:solidFill>
                <a:latin typeface="Pretendard Regular"/>
                <a:ea typeface="Pretendard Regular"/>
              </a:rPr>
              <a:t>당신은 졸업했습니다</a:t>
            </a:r>
            <a:r>
              <a:rPr lang="en-US" altLang="ko-KR" sz="2100">
                <a:solidFill>
                  <a:srgbClr val="717377"/>
                </a:solidFill>
                <a:latin typeface="Pretendard Regular"/>
                <a:ea typeface="Pretendard Regular"/>
              </a:rPr>
              <a:t>.</a:t>
            </a:r>
            <a:endParaRPr lang="en-US" sz="2100" b="0" i="0" u="none" strike="noStrike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EDA5129-B234-1A41-5292-26FCE3C67EE0}"/>
              </a:ext>
            </a:extLst>
          </p:cNvPr>
          <p:cNvSpPr txBox="1"/>
          <p:nvPr/>
        </p:nvSpPr>
        <p:spPr>
          <a:xfrm>
            <a:off x="2717800" y="8432800"/>
            <a:ext cx="14859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600" b="0" i="0" u="none" strike="noStrike">
                <a:solidFill>
                  <a:srgbClr val="FFFFFF"/>
                </a:solidFill>
                <a:ea typeface="Pretendard Bold"/>
              </a:rPr>
              <a:t>졸업</a:t>
            </a:r>
            <a:endParaRPr lang="ko-KR" sz="2600" b="0" i="0" u="none" strike="noStrike">
              <a:solidFill>
                <a:srgbClr val="FFFFFF"/>
              </a:solidFill>
              <a:ea typeface="Pretendard 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7B012FB-ACCD-DB7F-8415-D001C5903AA4}"/>
              </a:ext>
            </a:extLst>
          </p:cNvPr>
          <p:cNvSpPr txBox="1"/>
          <p:nvPr/>
        </p:nvSpPr>
        <p:spPr>
          <a:xfrm>
            <a:off x="1308100" y="35941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A7EDF07-A1AA-88E9-5762-BFF30298F583}"/>
              </a:ext>
            </a:extLst>
          </p:cNvPr>
          <p:cNvSpPr txBox="1"/>
          <p:nvPr/>
        </p:nvSpPr>
        <p:spPr>
          <a:xfrm>
            <a:off x="1308100" y="48133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23700B85-72F4-CBCB-075E-CCBD64797CE2}"/>
              </a:ext>
            </a:extLst>
          </p:cNvPr>
          <p:cNvSpPr txBox="1"/>
          <p:nvPr/>
        </p:nvSpPr>
        <p:spPr>
          <a:xfrm>
            <a:off x="1308100" y="60198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4441F5B-E2E2-88AB-A4EF-DEFC689F82E8}"/>
              </a:ext>
            </a:extLst>
          </p:cNvPr>
          <p:cNvSpPr txBox="1"/>
          <p:nvPr/>
        </p:nvSpPr>
        <p:spPr>
          <a:xfrm>
            <a:off x="1308100" y="72390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F13B28C4-D111-DC8D-406C-090DC5DC0702}"/>
              </a:ext>
            </a:extLst>
          </p:cNvPr>
          <p:cNvSpPr txBox="1"/>
          <p:nvPr/>
        </p:nvSpPr>
        <p:spPr>
          <a:xfrm>
            <a:off x="1308100" y="8458200"/>
            <a:ext cx="8001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</a:rPr>
              <a:t>5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787529EB-A471-FE6D-FC59-40F0B10834A7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presentation_process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EA74C11F-E16B-17A7-85FB-426F0671FAE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000" y="1384300"/>
            <a:ext cx="16713200" cy="8292646"/>
          </a:xfrm>
          <a:prstGeom prst="rect">
            <a:avLst/>
          </a:prstGeom>
        </p:spPr>
      </p:pic>
      <p:sp>
        <p:nvSpPr>
          <p:cNvPr id="48" name="원형: 비어 있음 47">
            <a:extLst>
              <a:ext uri="{FF2B5EF4-FFF2-40B4-BE49-F238E27FC236}">
                <a16:creationId xmlns:a16="http://schemas.microsoft.com/office/drawing/2014/main" id="{AB020AF9-AACB-BB3B-970B-916EDED69889}"/>
              </a:ext>
            </a:extLst>
          </p:cNvPr>
          <p:cNvSpPr/>
          <p:nvPr/>
        </p:nvSpPr>
        <p:spPr>
          <a:xfrm>
            <a:off x="5334000" y="3904587"/>
            <a:ext cx="2438400" cy="2051713"/>
          </a:xfrm>
          <a:prstGeom prst="don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530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7100" y="7594600"/>
            <a:ext cx="13881100" cy="1257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30861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7900" y="28575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857500"/>
            <a:ext cx="228600" cy="228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presentation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5300" y="3670300"/>
            <a:ext cx="122301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71800" y="4457700"/>
            <a:ext cx="12344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9000" b="0" i="0" u="none" strike="noStrike">
                <a:solidFill>
                  <a:srgbClr val="000000"/>
                </a:solidFill>
                <a:ea typeface="Pretendard Bold"/>
              </a:rPr>
              <a:t>감사합니다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86200" y="8001000"/>
            <a:ext cx="10502900" cy="419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800" b="0" i="0" u="none" strike="noStrike">
                <a:solidFill>
                  <a:srgbClr val="717377"/>
                </a:solidFill>
                <a:latin typeface="Pretendard Bold" panose="020B0600000101010101" charset="-127"/>
                <a:ea typeface="Pretendard Bold" panose="020B0600000101010101" charset="-127"/>
              </a:rPr>
              <a:t>다음 시간 </a:t>
            </a:r>
            <a:r>
              <a:rPr lang="en-US" altLang="ko-KR" sz="2800" b="0" i="0" u="none" strike="noStrike">
                <a:solidFill>
                  <a:srgbClr val="717377"/>
                </a:solidFill>
                <a:latin typeface="Pretendard Bold" panose="020B0600000101010101" charset="-127"/>
                <a:ea typeface="Pretendard Bold" panose="020B0600000101010101" charset="-127"/>
              </a:rPr>
              <a:t>: </a:t>
            </a:r>
            <a:r>
              <a:rPr lang="ko-KR" altLang="en-US" sz="2800" b="0" i="0" u="none" strike="noStrike">
                <a:solidFill>
                  <a:srgbClr val="717377"/>
                </a:solidFill>
                <a:latin typeface="Pretendard Bold" panose="020B0600000101010101" charset="-127"/>
                <a:ea typeface="Pretendard Bold" panose="020B0600000101010101" charset="-127"/>
              </a:rPr>
              <a:t>백엔드 연결 </a:t>
            </a:r>
            <a:r>
              <a:rPr lang="en-US" altLang="ko-KR" sz="2800" b="0" i="0" u="none" strike="noStrike">
                <a:solidFill>
                  <a:srgbClr val="717377"/>
                </a:solidFill>
                <a:latin typeface="Pretendard Bold" panose="020B0600000101010101" charset="-127"/>
                <a:ea typeface="Pretendard Bold" panose="020B0600000101010101" charset="-127"/>
              </a:rPr>
              <a:t>+ </a:t>
            </a:r>
            <a:r>
              <a:rPr lang="ko-KR" altLang="en-US" sz="2800" b="0" i="0" u="none" strike="noStrike">
                <a:solidFill>
                  <a:srgbClr val="717377"/>
                </a:solidFill>
                <a:latin typeface="Pretendard Bold" panose="020B0600000101010101" charset="-127"/>
                <a:ea typeface="Pretendard Bold" panose="020B0600000101010101" charset="-127"/>
              </a:rPr>
              <a:t>녹음 사이트 실제로 구성하기</a:t>
            </a:r>
            <a:endParaRPr lang="en-US" sz="2800" b="0" i="0" u="none" strike="noStrike">
              <a:solidFill>
                <a:srgbClr val="717377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886200" y="6680200"/>
            <a:ext cx="105156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endParaRPr lang="en-US" sz="2800" b="0" i="0" u="none" strike="noStrike">
              <a:solidFill>
                <a:srgbClr val="494A4E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753</Words>
  <Application>Microsoft Office PowerPoint</Application>
  <PresentationFormat>사용자 지정</PresentationFormat>
  <Paragraphs>170</Paragraphs>
  <Slides>16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Pretendard Bold</vt:lpstr>
      <vt:lpstr>Calibri</vt:lpstr>
      <vt:lpstr>Pretendard Light</vt:lpstr>
      <vt:lpstr>Pretendard Regular</vt:lpstr>
      <vt:lpstr>Pretendard Medium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예인 강</cp:lastModifiedBy>
  <cp:revision>31</cp:revision>
  <dcterms:created xsi:type="dcterms:W3CDTF">2006-08-16T00:00:00Z</dcterms:created>
  <dcterms:modified xsi:type="dcterms:W3CDTF">2026-09-29T14:07:32Z</dcterms:modified>
</cp:coreProperties>
</file>